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6" Type="http://schemas.openxmlformats.org/officeDocument/2006/relationships/viewProps" Target="viewProps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Vintage Automation Engine - Layer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Marketing Analytics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Vintage Automation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4-Layer Architecture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measure 6 VVD campaigns (VCN, VDA, VDT, VUI, VUT, VAW)</a:t>
            </a:r>
          </a:p>
          <a:p>
            <a:pPr lvl="0"/>
            <a:r>
              <a:rPr/>
              <a:t>Each campaign needs: experiment data, metrics config, success logic, client journey</a:t>
            </a:r>
          </a:p>
          <a:p>
            <a:pPr lvl="0"/>
            <a:r>
              <a:rPr/>
              <a:t>Today: All hardcoded in one Python file (59 items!)</a:t>
            </a:r>
          </a:p>
          <a:p>
            <a:pPr lvl="0"/>
            <a:r>
              <a:rPr/>
              <a:t>Future: Dynamic, swappable layers from semantic tables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SuperFact 4-Layer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790700"/>
                <a:gridCol w="25019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Future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Who is in the test?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tactic_evnt_hist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Experiment Metadata 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to measure?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Hardcoded 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Mnemonic Mapping v2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calculate?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Hardcoded 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Success Library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did they do?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EDW + HIVE queries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Journey layer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Layer 1</a:t>
            </a:r>
            <a:r>
              <a:rPr/>
              <a:t> loads experiment participants (Test vs Control)</a:t>
            </a:r>
          </a:p>
          <a:p>
            <a:pPr lvl="0" indent="-342900" marL="342900">
              <a:buAutoNum type="arabicPeriod"/>
            </a:pPr>
            <a:r>
              <a:rPr b="1"/>
              <a:t>Layer 2</a:t>
            </a:r>
            <a:r>
              <a:rPr/>
              <a:t> tells us which metric to measure for each campaign</a:t>
            </a:r>
          </a:p>
          <a:p>
            <a:pPr lvl="0" indent="-342900" marL="342900">
              <a:buAutoNum type="arabicPeriod"/>
            </a:pPr>
            <a:r>
              <a:rPr b="1"/>
              <a:t>Layer 3</a:t>
            </a:r>
            <a:r>
              <a:rPr/>
              <a:t> defines HOW to calculate that metric (filters, tables)</a:t>
            </a:r>
          </a:p>
          <a:p>
            <a:pPr lvl="0" indent="-342900" marL="342900">
              <a:buAutoNum type="arabicPeriod"/>
            </a:pPr>
            <a:r>
              <a:rPr b="1"/>
              <a:t>Layer 4</a:t>
            </a:r>
            <a:r>
              <a:rPr/>
              <a:t> gets the actual client behavior data</a:t>
            </a:r>
          </a:p>
          <a:p>
            <a:pPr lvl="0" indent="-342900" marL="342900">
              <a:buAutoNum type="arabicPeriod"/>
            </a:pPr>
            <a:r>
              <a:rPr b="1"/>
              <a:t>Engine</a:t>
            </a:r>
            <a:r>
              <a:rPr/>
              <a:t> combines everything and calculates lift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Experiment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“Who is in the test?”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Reads from </a:t>
            </a:r>
            <a:r>
              <a:rPr>
                <a:latin typeface="Courier"/>
              </a:rPr>
              <a:t>tactic_evnt_hist</a:t>
            </a:r>
            <a:r>
              <a:rPr/>
              <a:t> (parquet files)</a:t>
            </a:r>
          </a:p>
          <a:p>
            <a:pPr lvl="0"/>
            <a:r>
              <a:rPr/>
              <a:t>Identifies which clients are in Test vs Control groups</a:t>
            </a:r>
          </a:p>
          <a:p>
            <a:pPr lvl="0"/>
            <a:r>
              <a:rPr/>
              <a:t>Extracts campaign MNE from TACTIC_ID</a:t>
            </a:r>
          </a:p>
          <a:p>
            <a:pPr lvl="0"/>
            <a:r>
              <a:rPr/>
              <a:t>Creates COHORT based on treatment start date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Key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load_tactic()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loader for experiment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YEARS_TO_INCLUDE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Which years to read [2025, 2026]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TEST_GROUP_CODE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Which code = Test group (“TG4”)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tactic_base_path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 location of tactic data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Input:</a:t>
            </a:r>
            <a:r>
              <a:rPr/>
              <a:t> tactic_evnt_hist parquet files</a:t>
            </a:r>
          </a:p>
          <a:p>
            <a:pPr lvl="0" indent="0" marL="0">
              <a:buNone/>
            </a:pPr>
            <a:r>
              <a:rPr b="1"/>
              <a:t>Processing:</a:t>
            </a:r>
            <a:r>
              <a:rPr/>
              <a:t> - Extract MNE from TACTIC_ID positions 8-10 - Clean CLNT_NO (trim, remove leading zeros) - Assign GROUP based on TEST_GROUP_CODE - Create COHORT (year-month format)</a:t>
            </a:r>
          </a:p>
          <a:p>
            <a:pPr lvl="0" indent="0" marL="0">
              <a:buNone/>
            </a:pPr>
            <a:r>
              <a:rPr b="1"/>
              <a:t>Output:</a:t>
            </a:r>
            <a:r>
              <a:rPr/>
              <a:t> tactic_df with CLNT_NO, GROUP, COHORT, WINDOW_DAYS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Current vs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/>
                <a:gridCol w="400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 (Hardcoded)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(Dynamic)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YEARS_TO_INCLUDE = [2025, 2026]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“active between dates” from Experiment Metadata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TEST_GROUP_CODE = "TG4"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test group definition per experiment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HIVE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path OR semantic layer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Campaign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“What to measure?”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Maps each campaign (MNE) to its configuration</a:t>
            </a:r>
          </a:p>
          <a:p>
            <a:pPr lvl="0"/>
            <a:r>
              <a:rPr/>
              <a:t>Defines which success metric to use</a:t>
            </a:r>
          </a:p>
          <a:p>
            <a:pPr lvl="0"/>
            <a:r>
              <a:rPr/>
              <a:t>Provides campaign name, channel, success type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Key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CAMPAIGN_METADATA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campaigns with 4 fields 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get_campaign_config()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Lookup config by MNE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ALL_MNES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 of all campaign codes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Campaign Configuration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Campaign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Success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Metric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Contextual Notification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card_acquisition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Black Friday Cyber Monday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card_acquisition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card_activation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card_usage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 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wallet_provisioning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 To Wallet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wallet_provisioning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Input:</a:t>
            </a:r>
            <a:r>
              <a:rPr/>
              <a:t> MNE code (e.g., “VCN”)</a:t>
            </a:r>
          </a:p>
          <a:p>
            <a:pPr lvl="0" indent="0" marL="0">
              <a:buNone/>
            </a:pPr>
            <a:r>
              <a:rPr b="1"/>
              <a:t>Processing:</a:t>
            </a:r>
            <a:r>
              <a:rPr/>
              <a:t> - Lookup in CAMPAIGN_METADATA dictionary - Return configuration object</a:t>
            </a:r>
          </a:p>
          <a:p>
            <a:pPr lvl="0" indent="0" marL="0">
              <a:buNone/>
            </a:pPr>
            <a:r>
              <a:rPr b="1"/>
              <a:t>Output:</a:t>
            </a:r>
            <a:r>
              <a:rPr/>
              <a:t> campaign_name, success_type, primary_metric, channel</a:t>
            </a:r>
          </a:p>
          <a:p>
            <a:pPr lvl="0" indent="0" marL="0">
              <a:buNone/>
            </a:pPr>
            <a:r>
              <a:rPr b="1"/>
              <a:t>Key link:</a:t>
            </a:r>
            <a:r>
              <a:rPr/>
              <a:t> </a:t>
            </a:r>
            <a:r>
              <a:rPr>
                <a:latin typeface="Courier"/>
              </a:rPr>
              <a:t>primary_metric</a:t>
            </a:r>
            <a:r>
              <a:rPr/>
              <a:t> value is used to lookup Layer 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Current vs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/>
                <a:gridCol w="400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 (Hardcoded)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(Dynamic)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CAMPAIGN_METADATA["VCN"]["primary_metric"]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 primary_metric FROM mnemonic_mapping_v2 WHERE mne = 'VCN'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campaigns manually defined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all measurable campaigns with measurement flag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Success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“How to calculate?”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Defines the calculation logic for each metric</a:t>
            </a:r>
          </a:p>
          <a:p>
            <a:pPr lvl="0"/>
            <a:r>
              <a:rPr/>
              <a:t>Specifies which table to read</a:t>
            </a:r>
          </a:p>
          <a:p>
            <a:pPr lvl="0"/>
            <a:r>
              <a:rPr/>
              <a:t>Lists all filters to apply</a:t>
            </a:r>
          </a:p>
          <a:p>
            <a:pPr lvl="0"/>
            <a:r>
              <a:rPr/>
              <a:t>Configures date fields and special logic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Key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600"/>
                <a:gridCol w="1651000"/>
                <a:gridCol w="3568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SUCCESS_DEFINITIONS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metrics with 6 fields 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get_success_definition()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Lookup definition by metric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logic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Applied in </a:t>
                      </a:r>
                      <a:r>
                        <a:rPr>
                          <a:latin typeface="Courier"/>
                        </a:rPr>
                        <a:t>load_success_outcome()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Metrics Defined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600200"/>
                <a:gridCol w="297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Filters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VISA_DR_CRD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STS_CD in (06,08), SRVC_ID=36, ISS_DT not null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card_activation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VISA_DR_CRD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STS_CD in (06,08), SRVC_ID=36, ACTV_DT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card_usage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POS_TXN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SRVC_CD=36, specific TXN_TP/MSG_TP combos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wallet_provisioning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CLNT_CRD_POS_LOG + TOKEN_LIST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 wallet indicator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Definition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metric definition contains:</a:t>
            </a:r>
          </a:p>
          <a:p>
            <a:pPr lvl="0"/>
            <a:r>
              <a:rPr b="1"/>
              <a:t>description</a:t>
            </a:r>
            <a:r>
              <a:rPr/>
              <a:t>: What this metric measures</a:t>
            </a:r>
          </a:p>
          <a:p>
            <a:pPr lvl="0"/>
            <a:r>
              <a:rPr b="1"/>
              <a:t>source</a:t>
            </a:r>
            <a:r>
              <a:rPr/>
              <a:t>: HIVE or EDW</a:t>
            </a:r>
          </a:p>
          <a:p>
            <a:pPr lvl="0"/>
            <a:r>
              <a:rPr b="1"/>
              <a:t>table_path</a:t>
            </a:r>
            <a:r>
              <a:rPr/>
              <a:t>: Where to read data from</a:t>
            </a:r>
          </a:p>
          <a:p>
            <a:pPr lvl="0"/>
            <a:r>
              <a:rPr b="1"/>
              <a:t>date_field</a:t>
            </a:r>
            <a:r>
              <a:rPr/>
              <a:t>: Which field indicates success date</a:t>
            </a:r>
          </a:p>
          <a:p>
            <a:pPr lvl="0"/>
            <a:r>
              <a:rPr b="1"/>
              <a:t>filters</a:t>
            </a:r>
            <a:r>
              <a:rPr/>
              <a:t>: All conditions to apply</a:t>
            </a:r>
          </a:p>
          <a:p>
            <a:pPr lvl="0"/>
            <a:r>
              <a:rPr b="1"/>
              <a:t>add_card_type</a:t>
            </a:r>
            <a:r>
              <a:rPr/>
              <a:t>: Whether to include card type breakdown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Filter Logic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card_acquisition filters: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STS_CD</a:t>
            </a:r>
            <a:r>
              <a:rPr/>
              <a:t> must be in [‘06’, ‘08’] (active statuses)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SRVC_ID</a:t>
            </a:r>
            <a:r>
              <a:rPr/>
              <a:t> must equal 36 (VVD service)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ISS_DT</a:t>
            </a:r>
            <a:r>
              <a:rPr/>
              <a:t> must not be null (card was issued)</a:t>
            </a:r>
          </a:p>
          <a:p>
            <a:pPr lvl="0" indent="0" marL="0">
              <a:buNone/>
            </a:pPr>
            <a:r>
              <a:rPr/>
              <a:t>These filters are currently inline in </a:t>
            </a:r>
            <a:r>
              <a:rPr>
                <a:latin typeface="Courier"/>
              </a:rPr>
              <a:t>load_success_outcome()</a:t>
            </a:r>
            <a:r>
              <a:rPr/>
              <a:t> function.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Current vs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 (Hardcoded)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Option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Option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SUCCESS_DEFINITIONS["card_acquisition"]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%Run /success_library/card_acquisition.py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 * FROM semantic.card_acquisition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Inline filter logic in 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 in GitHub code 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Pre-filtered curated data set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Client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“What did they actually do?”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Gets actual client behavior data</a:t>
            </a:r>
          </a:p>
          <a:p>
            <a:pPr lvl="0"/>
            <a:r>
              <a:rPr/>
              <a:t>Three main components:</a:t>
            </a:r>
          </a:p>
          <a:p>
            <a:pPr lvl="1"/>
            <a:r>
              <a:rPr b="1"/>
              <a:t>Fulfillment</a:t>
            </a:r>
            <a:r>
              <a:rPr/>
              <a:t>: Was the contact delivered?</a:t>
            </a:r>
          </a:p>
          <a:p>
            <a:pPr lvl="1"/>
            <a:r>
              <a:rPr b="1"/>
              <a:t>Email Engagement</a:t>
            </a:r>
            <a:r>
              <a:rPr/>
              <a:t>: Did they open/click?</a:t>
            </a:r>
          </a:p>
          <a:p>
            <a:pPr lvl="1"/>
            <a:r>
              <a:rPr b="1"/>
              <a:t>Success Outcome</a:t>
            </a:r>
            <a:r>
              <a:rPr/>
              <a:t>: Did they convert?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Key 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600"/>
                <a:gridCol w="1651000"/>
                <a:gridCol w="3568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load_fulfillment()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fulfillment from EDW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load_email_engagement()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email metrics from EDW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load_success_outcome()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conversion data from HIVE/EDW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load_token_from_edw()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Token-specific query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enrich_with_engagement()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all journey data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Fulfillment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DG6V01.TACTIC_EVNT_IP_AR_HIST (EDW/Teradata)</a:t>
            </a:r>
          </a:p>
          <a:p>
            <a:pPr lvl="0" indent="0" marL="0">
              <a:buNone/>
            </a:pPr>
            <a:r>
              <a:rPr b="1"/>
              <a:t>Output fields:</a:t>
            </a:r>
            <a:r>
              <a:rPr/>
              <a:t> - FULFILLMENT_FLAG (was contact delivered?) - FULFILLMENT_DT (when?) - FULFILLMENT_AMT (any value associated?)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Email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DTZV01.VENDOR_FEEDBACK_MASTER + VENDOR_FEEDBACK_EVENT (EDW)</a:t>
            </a:r>
          </a:p>
          <a:p>
            <a:pPr lvl="0" indent="0" marL="0">
              <a:buNone/>
            </a:pPr>
            <a:r>
              <a:rPr b="1"/>
              <a:t>Output fields:</a:t>
            </a:r>
            <a:r>
              <a:rPr/>
              <a:t> - EMAIL_SENT (disposition code 1) - EMAIL_OPENED (disposition code 2) - EMAIL_CLICKED (disposition code 3) - EMAIL_BOUNCED (disposition code 5)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Success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Source:</a:t>
            </a:r>
            <a:r>
              <a:rPr/>
              <a:t> VISA_DR_CRD, POS_TXN (HIVE) or EDW for token</a:t>
            </a:r>
          </a:p>
          <a:p>
            <a:pPr lvl="0" indent="0" marL="0">
              <a:buNone/>
            </a:pPr>
            <a:r>
              <a:rPr b="1"/>
              <a:t>Output fields:</a:t>
            </a:r>
            <a:r>
              <a:rPr/>
              <a:t> - SUCCESS_DT (when did conversion happen?) - SUCCESS_FLAG (0 or 1) - DAYS_TO_SUCCESS (how long from treatment to conversion?)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load_fulfillment()</a:t>
            </a:r>
            <a:r>
              <a:rPr/>
              <a:t> - Was contact delivered?</a:t>
            </a:r>
          </a:p>
          <a:p>
            <a:pPr lvl="0" indent="-342900" marL="342900">
              <a:buAutoNum type="arabicPeriod"/>
            </a:pPr>
            <a:r>
              <a:rPr b="1"/>
              <a:t>load_email_engagement()</a:t>
            </a:r>
            <a:r>
              <a:rPr/>
              <a:t> - Email sent/opened/clicked?</a:t>
            </a:r>
          </a:p>
          <a:p>
            <a:pPr lvl="0" indent="-342900" marL="342900">
              <a:buAutoNum type="arabicPeriod"/>
            </a:pPr>
            <a:r>
              <a:rPr b="1"/>
              <a:t>load_success_outcome()</a:t>
            </a:r>
            <a:r>
              <a:rPr/>
              <a:t> - Did they convert?</a:t>
            </a:r>
          </a:p>
          <a:p>
            <a:pPr lvl="0" indent="-342900" marL="342900">
              <a:buAutoNum type="arabicPeriod"/>
            </a:pPr>
            <a:r>
              <a:rPr b="1"/>
              <a:t>enrich_with_engagement()</a:t>
            </a:r>
            <a:r>
              <a:rPr/>
              <a:t> - Join all to experiment records</a:t>
            </a:r>
          </a:p>
          <a:p>
            <a:pPr lvl="0" indent="0" marL="0">
              <a:buNone/>
            </a:pPr>
            <a:r>
              <a:rPr b="1"/>
              <a:t>Output:</a:t>
            </a:r>
            <a:r>
              <a:rPr/>
              <a:t> Enriched success_df with full client journey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Data Sources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Table/Path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Fulfillment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EDW (Teradata)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TACTIC_EVNT_IP_AR_HIST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 engagement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EDW (Teradata)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VENDOR_FEEDBACK_MASTER/_EVENT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 acquisition/activation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VISA_DR_CRD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 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POS_TXN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 provisioning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EDW (Teradata)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CLNT_CRD_POS_LOG + TOKEN_LIST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4: Current vs Future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00"/>
                <a:gridCol w="439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EDW query for fulfillment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Journey semantic 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EDW query + pivot for 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Engagement semantic 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HIVE read + filters for success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Success Library curated data 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paths in PATHS 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from metadata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Layer-Agnostic Processing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Receives data from all 4 layers</a:t>
            </a:r>
          </a:p>
          <a:p>
            <a:pPr lvl="0"/>
            <a:r>
              <a:rPr/>
              <a:t>Performs vintage curve calculations</a:t>
            </a:r>
          </a:p>
          <a:p>
            <a:pPr lvl="0"/>
            <a:r>
              <a:rPr/>
              <a:t>Calculates lift and confidence intervals</a:t>
            </a:r>
          </a:p>
          <a:p>
            <a:pPr lvl="0"/>
            <a:r>
              <a:rPr/>
              <a:t>Generates summaries and visualizations</a:t>
            </a:r>
          </a:p>
          <a:p>
            <a:pPr lvl="0" indent="0" marL="0">
              <a:buNone/>
            </a:pPr>
            <a:r>
              <a:rPr b="1"/>
              <a:t>Key point:</a:t>
            </a:r>
            <a:r>
              <a:rPr/>
              <a:t> The engine does NOT change when data sources change.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Engine: Core Functions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detect_success()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experiment (L1) with outcome (L4)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build_vintage_data()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Aggregate by cohort, group, 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calculate_ci()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Calculate lift and confidence interval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prepare_vintage_table()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cumulative curves, fill gaps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Engine: Output Functions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generate_summary()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day metrics per cohort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generate_engagement_summary()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Email/fulfillment funnel metrics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plot_vintage()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cohorts on one chart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plot_grid()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subplot per cohort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Engine: Why It’s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 only cares about these fields:</a:t>
            </a:r>
          </a:p>
          <a:p>
            <a:pPr lvl="0"/>
            <a:r>
              <a:rPr b="1"/>
              <a:t>CLNT_NO</a:t>
            </a:r>
            <a:r>
              <a:rPr/>
              <a:t> - client identifier</a:t>
            </a:r>
          </a:p>
          <a:p>
            <a:pPr lvl="0"/>
            <a:r>
              <a:rPr b="1"/>
              <a:t>GROUP</a:t>
            </a:r>
            <a:r>
              <a:rPr/>
              <a:t> - Test or Control</a:t>
            </a:r>
          </a:p>
          <a:p>
            <a:pPr lvl="0"/>
            <a:r>
              <a:rPr b="1"/>
              <a:t>COHORT</a:t>
            </a:r>
            <a:r>
              <a:rPr/>
              <a:t> - when they entered experiment</a:t>
            </a:r>
          </a:p>
          <a:p>
            <a:pPr lvl="0"/>
            <a:r>
              <a:rPr b="1"/>
              <a:t>SUCCESS_FLAG</a:t>
            </a:r>
            <a:r>
              <a:rPr/>
              <a:t> - did they convert (0/1)</a:t>
            </a:r>
          </a:p>
          <a:p>
            <a:pPr lvl="0"/>
            <a:r>
              <a:rPr b="1"/>
              <a:t>DAYS_TO_SUCCESS</a:t>
            </a:r>
            <a:r>
              <a:rPr/>
              <a:t> - how long it took</a:t>
            </a:r>
          </a:p>
          <a:p>
            <a:pPr lvl="0"/>
            <a:r>
              <a:rPr b="1"/>
              <a:t>EMAIL_SENT/OPENED/CLICKED</a:t>
            </a:r>
            <a:r>
              <a:rPr/>
              <a:t> - engagement flags (optional)</a:t>
            </a:r>
          </a:p>
          <a:p>
            <a:pPr lvl="0"/>
            <a:r>
              <a:rPr b="1"/>
              <a:t>FULFILLMENT_FLAG</a:t>
            </a:r>
            <a:r>
              <a:rPr/>
              <a:t> - was contact delivered (optional)</a:t>
            </a:r>
          </a:p>
          <a:p>
            <a:pPr lvl="0" indent="0" marL="0">
              <a:buNone/>
            </a:pPr>
            <a:r>
              <a:rPr/>
              <a:t>It doesn’t care WHERE the data comes from.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All Together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Orchestration Functions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run_vintage_analysis()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single campaign through all layers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run_all_campaigns()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multiple campaigns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export_to_csv()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 results to CSV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export_to_hdfs_csv()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 to HDFS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What’s Hardcoded Today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Hardcoded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YEARS_TO_INCLUDE, TEST_GROUP_CODE, tactic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CAMPAIGN_METADATA (6 campaigns x 4 fields)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SUCCESS_DEFINITIONS (4 metrics x 6 fields)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PATHS (5 paths), EDW queries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59 items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Each Layer Becomes Dynamic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Migration: Layer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Experiment Metadata Table is Ready:</a:t>
            </a:r>
          </a:p>
          <a:p>
            <a:pPr lvl="0" indent="0" marL="0">
              <a:buNone/>
            </a:pPr>
            <a:r>
              <a:rPr/>
              <a:t>Before: - </a:t>
            </a:r>
            <a:r>
              <a:rPr>
                <a:latin typeface="Courier"/>
              </a:rPr>
              <a:t>YEARS_TO_INCLUDE = [2025, 2026]</a:t>
            </a:r>
            <a:r>
              <a:rPr/>
              <a:t> - </a:t>
            </a:r>
            <a:r>
              <a:rPr>
                <a:latin typeface="Courier"/>
              </a:rPr>
              <a:t>TEST_GROUP_CODE = "TG4"</a:t>
            </a:r>
          </a:p>
          <a:p>
            <a:pPr lvl="0" indent="0" marL="0">
              <a:buNone/>
            </a:pPr>
            <a:r>
              <a:rPr/>
              <a:t>After: - Query experiment metadata for active years - Query test group code per experiment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Migration: Layer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Mnemonic Mapping v2 Has Metrics:</a:t>
            </a:r>
          </a:p>
          <a:p>
            <a:pPr lvl="0" indent="0" marL="0">
              <a:buNone/>
            </a:pPr>
            <a:r>
              <a:rPr/>
              <a:t>Before: - </a:t>
            </a:r>
            <a:r>
              <a:rPr>
                <a:latin typeface="Courier"/>
              </a:rPr>
              <a:t>config = CAMPAIGN_METADATA["VCN"]</a:t>
            </a:r>
          </a:p>
          <a:p>
            <a:pPr lvl="0" indent="0" marL="0">
              <a:buNone/>
            </a:pPr>
            <a:r>
              <a:rPr/>
              <a:t>After: - </a:t>
            </a:r>
            <a:r>
              <a:rPr>
                <a:latin typeface="Courier"/>
              </a:rPr>
              <a:t>config = query_mnemonic_mapping_v2("VCN")</a:t>
            </a:r>
            <a:r>
              <a:rPr/>
              <a:t> - Returns: primary_metric, secondary_metric, campaign_name, etc.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Migration: Layer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Success Library is Ready:</a:t>
            </a:r>
          </a:p>
          <a:p>
            <a:pPr lvl="0" indent="0" marL="0">
              <a:buNone/>
            </a:pPr>
            <a:r>
              <a:rPr/>
              <a:t>Before: - </a:t>
            </a:r>
            <a:r>
              <a:rPr>
                <a:latin typeface="Courier"/>
              </a:rPr>
              <a:t>definition = SUCCESS_DEFINITIONS["card_acquisition"]</a:t>
            </a:r>
            <a:r>
              <a:rPr/>
              <a:t> - Apply filters manually in load_success_outcome()</a:t>
            </a:r>
          </a:p>
          <a:p>
            <a:pPr lvl="0" indent="0" marL="0">
              <a:buNone/>
            </a:pPr>
            <a:r>
              <a:rPr/>
              <a:t>After (Option A - GitHub): - </a:t>
            </a:r>
            <a:r>
              <a:rPr>
                <a:latin typeface="Courier"/>
              </a:rPr>
              <a:t>%run /success_library/metrics/card_acquisition.py</a:t>
            </a:r>
            <a:r>
              <a:rPr/>
              <a:t> - </a:t>
            </a:r>
            <a:r>
              <a:rPr>
                <a:latin typeface="Courier"/>
              </a:rPr>
              <a:t>success_df = get_card_acquisition(spark, client_list)</a:t>
            </a:r>
          </a:p>
          <a:p>
            <a:pPr lvl="0" indent="0" marL="0">
              <a:buNone/>
            </a:pPr>
            <a:r>
              <a:rPr/>
              <a:t>After (Option B - Curated): - </a:t>
            </a:r>
            <a:r>
              <a:rPr>
                <a:latin typeface="Courier"/>
              </a:rPr>
              <a:t>success_df = spark.read.parquet("/semantic/success/card_acquisition")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Migration: Layer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Client Journey Layer is Ready:</a:t>
            </a:r>
          </a:p>
          <a:p>
            <a:pPr lvl="0" indent="0" marL="0">
              <a:buNone/>
            </a:pPr>
            <a:r>
              <a:rPr/>
              <a:t>Before: - </a:t>
            </a:r>
            <a:r>
              <a:rPr>
                <a:latin typeface="Courier"/>
              </a:rPr>
              <a:t>fulfillment_df = load_fulfillment(spark, tactic_ids)</a:t>
            </a:r>
            <a:r>
              <a:rPr/>
              <a:t> (Direct EDW) - </a:t>
            </a:r>
            <a:r>
              <a:rPr>
                <a:latin typeface="Courier"/>
              </a:rPr>
              <a:t>email_df = load_email_engagement(spark, treatment_ids)</a:t>
            </a:r>
            <a:r>
              <a:rPr/>
              <a:t> (Direct EDW) - </a:t>
            </a:r>
            <a:r>
              <a:rPr>
                <a:latin typeface="Courier"/>
              </a:rPr>
              <a:t>success_df = load_success_outcome(spark, config)</a:t>
            </a:r>
            <a:r>
              <a:rPr/>
              <a:t> (Direct HIVE)</a:t>
            </a:r>
          </a:p>
          <a:p>
            <a:pPr lvl="0" indent="0" marL="0">
              <a:buNone/>
            </a:pPr>
            <a:r>
              <a:rPr/>
              <a:t>After: - </a:t>
            </a:r>
            <a:r>
              <a:rPr>
                <a:latin typeface="Courier"/>
              </a:rPr>
              <a:t>journey_df = query_client_journey(client_list, start_date, end_date)</a:t>
            </a:r>
            <a:r>
              <a:rPr/>
              <a:t> - Returns all touchpoints: email, fulfillment, conversion, etc.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4 layers</a:t>
            </a:r>
            <a:r>
              <a:rPr/>
              <a:t> separate concerns: who, what, how, behavior</a:t>
            </a:r>
          </a:p>
          <a:p>
            <a:pPr lvl="0" indent="-342900" marL="342900">
              <a:buAutoNum type="arabicPeriod"/>
            </a:pPr>
            <a:r>
              <a:rPr b="1"/>
              <a:t>59 hardcoded items</a:t>
            </a:r>
            <a:r>
              <a:rPr/>
              <a:t> today will become dynamic queries</a:t>
            </a:r>
          </a:p>
          <a:p>
            <a:pPr lvl="0" indent="-342900" marL="342900">
              <a:buAutoNum type="arabicPeriod"/>
            </a:pPr>
            <a:r>
              <a:rPr b="1"/>
              <a:t>Engine is stable</a:t>
            </a:r>
            <a:r>
              <a:rPr/>
              <a:t> - doesn’t change when sources change</a:t>
            </a:r>
          </a:p>
          <a:p>
            <a:pPr lvl="0" indent="-342900" marL="342900">
              <a:buAutoNum type="arabicPeriod"/>
            </a:pPr>
            <a:r>
              <a:rPr b="1"/>
              <a:t>Migration is incremental</a:t>
            </a:r>
            <a:r>
              <a:rPr/>
              <a:t> - swap one layer at a time</a:t>
            </a:r>
          </a:p>
          <a:p>
            <a:pPr lvl="0" indent="-342900" marL="342900">
              <a:buAutoNum type="arabicPeriod"/>
            </a:pPr>
            <a:r>
              <a:rPr b="1"/>
              <a:t>SuperFact alignment</a:t>
            </a:r>
            <a:r>
              <a:rPr/>
              <a:t> - each layer maps to a semantic table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/>
            <a:r>
              <a:rPr/>
              <a:t>Prioritize which layer to migrate first</a:t>
            </a:r>
          </a:p>
          <a:p>
            <a:pPr lvl="0"/>
            <a:r>
              <a:rPr/>
              <a:t>Validate Mnemonic Mapping v2 has required fields</a:t>
            </a:r>
          </a:p>
          <a:p>
            <a:pPr lvl="0"/>
            <a:r>
              <a:rPr/>
              <a:t>Confirm Success Library structure</a:t>
            </a:r>
          </a:p>
          <a:p>
            <a:pPr lvl="0"/>
            <a:r>
              <a:rPr/>
              <a:t>Plan Client Journey semantic layer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Layer Ownership Quick Reference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Config:</a:t>
            </a:r>
            <a:r>
              <a:rPr/>
              <a:t> YEARS_TO_INCLUDE, TEST_GROUP_CODE</a:t>
            </a:r>
          </a:p>
          <a:p>
            <a:pPr lvl="0" indent="0" marL="0">
              <a:buNone/>
            </a:pPr>
            <a:r>
              <a:rPr b="1"/>
              <a:t>Path:</a:t>
            </a:r>
            <a:r>
              <a:rPr/>
              <a:t> PATHS[“tactic_base_path”]</a:t>
            </a:r>
          </a:p>
          <a:p>
            <a:pPr lvl="0" indent="0" marL="0">
              <a:buNone/>
            </a:pPr>
            <a:r>
              <a:rPr b="1"/>
              <a:t>Function:</a:t>
            </a:r>
            <a:r>
              <a:rPr/>
              <a:t> load_tactic()</a:t>
            </a:r>
          </a:p>
          <a:p>
            <a:pPr lvl="0" indent="0" marL="0">
              <a:buNone/>
            </a:pPr>
            <a:r>
              <a:rPr b="1"/>
              <a:t>Swap to:</a:t>
            </a:r>
            <a:r>
              <a:rPr/>
              <a:t> Experiment Metadata table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Config:</a:t>
            </a:r>
            <a:r>
              <a:rPr/>
              <a:t> CAMPAIGN_METADATA dict (6 campaigns)</a:t>
            </a:r>
          </a:p>
          <a:p>
            <a:pPr lvl="0" indent="0" marL="0">
              <a:buNone/>
            </a:pPr>
            <a:r>
              <a:rPr b="1"/>
              <a:t>Fields:</a:t>
            </a:r>
            <a:r>
              <a:rPr/>
              <a:t> campaign_name, success_type, primary_metric, channel</a:t>
            </a:r>
          </a:p>
          <a:p>
            <a:pPr lvl="0" indent="0" marL="0">
              <a:buNone/>
            </a:pPr>
            <a:r>
              <a:rPr b="1"/>
              <a:t>Function:</a:t>
            </a:r>
            <a:r>
              <a:rPr/>
              <a:t> get_campaign_config()</a:t>
            </a:r>
          </a:p>
          <a:p>
            <a:pPr lvl="0" indent="0" marL="0">
              <a:buNone/>
            </a:pPr>
            <a:r>
              <a:rPr b="1"/>
              <a:t>Swap to:</a:t>
            </a:r>
            <a:r>
              <a:rPr/>
              <a:t> Mnemonic Mapping v2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Config:</a:t>
            </a:r>
            <a:r>
              <a:rPr/>
              <a:t> SUCCESS_DEFINITIONS dict (4 metrics)</a:t>
            </a:r>
          </a:p>
          <a:p>
            <a:pPr lvl="0" indent="0" marL="0">
              <a:buNone/>
            </a:pPr>
            <a:r>
              <a:rPr b="1"/>
              <a:t>Fields:</a:t>
            </a:r>
            <a:r>
              <a:rPr/>
              <a:t> table_path, date_field, filters, source</a:t>
            </a:r>
          </a:p>
          <a:p>
            <a:pPr lvl="0" indent="0" marL="0">
              <a:buNone/>
            </a:pPr>
            <a:r>
              <a:rPr b="1"/>
              <a:t>Functions:</a:t>
            </a:r>
            <a:r>
              <a:rPr/>
              <a:t> get_success_definition(), filter logic in load_success_outcome()</a:t>
            </a:r>
          </a:p>
          <a:p>
            <a:pPr lvl="0" indent="0" marL="0">
              <a:buNone/>
            </a:pPr>
            <a:r>
              <a:rPr b="1"/>
              <a:t>Swap to:</a:t>
            </a:r>
            <a:r>
              <a:rPr/>
              <a:t> Success Library (GitHub or curated data)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4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Paths:</a:t>
            </a:r>
            <a:r>
              <a:rPr/>
              <a:t> visa_dr_crd, pos_txn, token_source, email_source, fulfillment</a:t>
            </a:r>
          </a:p>
          <a:p>
            <a:pPr lvl="0" indent="0" marL="0">
              <a:buNone/>
            </a:pPr>
            <a:r>
              <a:rPr b="1"/>
              <a:t>Functions:</a:t>
            </a:r>
            <a:r>
              <a:rPr/>
              <a:t> load_fulfillment(), load_email_engagement(), load_success_outcome(), load_token_from_edw()</a:t>
            </a:r>
          </a:p>
          <a:p>
            <a:pPr lvl="0" indent="0" marL="0">
              <a:buNone/>
            </a:pPr>
            <a:r>
              <a:rPr b="1"/>
              <a:t>Enrichment:</a:t>
            </a:r>
            <a:r>
              <a:rPr/>
              <a:t> enrich_with_engagement()</a:t>
            </a:r>
          </a:p>
          <a:p>
            <a:pPr lvl="0" indent="0" marL="0">
              <a:buNone/>
            </a:pPr>
            <a:r>
              <a:rPr b="1"/>
              <a:t>Swap to:</a:t>
            </a:r>
            <a:r>
              <a:rPr/>
              <a:t> Unified Client Journey semantic layer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 Ownership (Stable)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Core:</a:t>
            </a:r>
            <a:r>
              <a:rPr/>
              <a:t> detect_success(), build_vintage_data(), prepare_vintage_table()</a:t>
            </a:r>
          </a:p>
          <a:p>
            <a:pPr lvl="0" indent="0" marL="0">
              <a:buNone/>
            </a:pPr>
            <a:r>
              <a:rPr b="1"/>
              <a:t>Stats:</a:t>
            </a:r>
            <a:r>
              <a:rPr/>
              <a:t> calculate_ci()</a:t>
            </a:r>
          </a:p>
          <a:p>
            <a:pPr lvl="0" indent="0" marL="0">
              <a:buNone/>
            </a:pPr>
            <a:r>
              <a:rPr b="1"/>
              <a:t>Summary:</a:t>
            </a:r>
            <a:r>
              <a:rPr/>
              <a:t> generate_summary(), generate_engagement_summary()</a:t>
            </a:r>
          </a:p>
          <a:p>
            <a:pPr lvl="0" indent="0" marL="0">
              <a:buNone/>
            </a:pPr>
            <a:r>
              <a:rPr b="1"/>
              <a:t>Viz:</a:t>
            </a:r>
            <a:r>
              <a:rPr/>
              <a:t> plot_vintage(), plot_grid()</a:t>
            </a:r>
          </a:p>
          <a:p>
            <a:pPr lvl="0" indent="0" marL="0">
              <a:buNone/>
            </a:pPr>
            <a:r>
              <a:rPr b="1"/>
              <a:t>Does NOT change when data sources change.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Vintage Automation Engine - Layer Architecture</dc:title>
  <dc:creator>Marketing Analytics</dc:creator>
  <cp:keywords/>
  <dcterms:created xsi:type="dcterms:W3CDTF">2026-01-22T05:59:43Z</dcterms:created>
  <dcterms:modified xsi:type="dcterms:W3CDTF">2026-01-22T05:59:43Z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