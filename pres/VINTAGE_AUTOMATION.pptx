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137160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VINTAGE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3168"/>
                </a:solidFill>
              </a:defRPr>
            </a:pPr>
            <a:r>
              <a:t>Implementing the SuperFact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168"/>
                </a:solidFill>
              </a:defRPr>
            </a:pPr>
            <a:r>
              <a:t>Vintage Automation Engine - SuperFact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74552" cy="36576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SUPERFACT 4-LAYER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51760" cy="822960"/>
          </a:xfrm>
          <a:prstGeom prst="roundRect">
            <a:avLst/>
          </a:prstGeom>
          <a:solidFill>
            <a:srgbClr val="0091DA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Layer 1</a:t>
            </a:r>
            <a:br/>
            <a:r>
              <a:t>Experiment Metadata</a:t>
            </a:r>
            <a:br/>
            <a:br/>
            <a:r>
              <a:t>"Who's in test?"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188720"/>
            <a:ext cx="2651760" cy="822960"/>
          </a:xfrm>
          <a:prstGeom prst="roundRect">
            <a:avLst/>
          </a:prstGeom>
          <a:solidFill>
            <a:srgbClr val="0091DA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Layer 2</a:t>
            </a:r>
            <a:br/>
            <a:r>
              <a:t>Campaign Metadata</a:t>
            </a:r>
            <a:br/>
            <a:br/>
            <a:r>
              <a:t>"What to measure?"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2651760" cy="822960"/>
          </a:xfrm>
          <a:prstGeom prst="roundRect">
            <a:avLst/>
          </a:prstGeom>
          <a:solidFill>
            <a:srgbClr val="0091DA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Layer 3</a:t>
            </a:r>
            <a:br/>
            <a:r>
              <a:t>Success Library</a:t>
            </a:r>
            <a:br/>
            <a:br/>
            <a:r>
              <a:t>"How to calculate?"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188720"/>
            <a:ext cx="2651760" cy="822960"/>
          </a:xfrm>
          <a:prstGeom prst="roundRect">
            <a:avLst/>
          </a:prstGeom>
          <a:solidFill>
            <a:srgbClr val="0091DA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Layer 4</a:t>
            </a:r>
            <a:br/>
            <a:r>
              <a:t>Client Journey</a:t>
            </a:r>
            <a:br/>
            <a:br/>
            <a:r>
              <a:t>"What did they do?"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51A5"/>
                </a:solidFill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11274552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11274552" cy="32004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VINTAGE AUTOMATION ENGINE (vintage_all_in_one.py)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168"/>
                </a:solidFill>
              </a:defRPr>
            </a:pPr>
            <a:r>
              <a:t>INPUTS FROM LAYERS: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2011680" cy="77724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Layer 1</a:t>
            </a:r>
            <a:br/>
            <a:r>
              <a:t>tactic_evnt_hist</a:t>
            </a:r>
            <a:br/>
            <a:br/>
            <a:r>
              <a:t>FROM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3063240"/>
            <a:ext cx="2011680" cy="77724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Layer 2</a:t>
            </a:r>
            <a:br/>
            <a:r>
              <a:t>Campaign Config</a:t>
            </a:r>
            <a:br/>
            <a:br/>
            <a:r>
              <a:t>SWAP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063240"/>
            <a:ext cx="2011680" cy="77724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Layer 3</a:t>
            </a:r>
            <a:br/>
            <a:r>
              <a:t>Success Definitions</a:t>
            </a:r>
            <a:br/>
            <a:br/>
            <a:r>
              <a:t>SWAP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59" y="3063240"/>
            <a:ext cx="2011680" cy="77724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Layer 4</a:t>
            </a:r>
            <a:br/>
            <a:r>
              <a:t>VISA_DR_CRD</a:t>
            </a:r>
            <a:br/>
            <a:r>
              <a:t>Email Data</a:t>
            </a:r>
            <a:br/>
            <a:r>
              <a:t>FROM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3063240"/>
            <a:ext cx="21945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EA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31089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LEGEND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337560"/>
            <a:ext cx="228600" cy="13716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33101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From Data (working)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520440"/>
            <a:ext cx="228600" cy="137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3493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Swap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168"/>
                </a:solidFill>
              </a:defRPr>
            </a:pPr>
            <a:r>
              <a:t>ENGINE CORE (stable - doesn't change when sources change):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06240"/>
            <a:ext cx="7315200" cy="32004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detect_success() → build_vintage_data() → calculate_ci() → generate_summary()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3168"/>
                </a:solidFill>
              </a:defRPr>
            </a:pPr>
            <a:r>
              <a:t>PILOTS: VCN, VDA, VDT, VUI, VUT, VAW (6 campaigns)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006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3168"/>
                </a:solidFill>
              </a:defRPr>
            </a:pPr>
            <a:r>
              <a:t>OUTPUTS: Vintage curves (Test vs Control) | Lift + CI | Engagement funnel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51A5"/>
                </a:solidFill>
              </a:defRPr>
            </a:pPr>
            <a: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5349240"/>
            <a:ext cx="3044952" cy="36576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CSV / HDFS OUTPUT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943600"/>
            <a:ext cx="3200400" cy="1005840"/>
          </a:xfrm>
          <a:prstGeom prst="roundRect">
            <a:avLst/>
          </a:prstGeom>
          <a:solidFill>
            <a:srgbClr val="9E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TRACK A - Official</a:t>
            </a:r>
            <a:br/>
            <a:br/>
            <a:r>
              <a:t>Who: CIDM team</a:t>
            </a:r>
            <a:br/>
            <a:r>
              <a:t>Tool: Tableau</a:t>
            </a:r>
            <a:br/>
            <a:r>
              <a:t>Status: Pending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5943600"/>
            <a:ext cx="3200400" cy="100584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TRACK B - In-House</a:t>
            </a:r>
            <a:br/>
            <a:br/>
            <a:r>
              <a:t>Who: Us</a:t>
            </a:r>
            <a:br/>
            <a:r>
              <a:t>Tool: HTML/Plotly</a:t>
            </a:r>
            <a:br/>
            <a:r>
              <a:t>Status: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3168"/>
                </a:solidFill>
              </a:defRPr>
            </a:pPr>
            <a:r>
              <a:t>The Virtuous Cycle - Building the Source of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3168"/>
                </a:solidFill>
              </a:defRPr>
            </a:pPr>
            <a:r>
              <a:t>As we add campaigns, we document success metrics → Library grows → Governance improves → Next campaign is faster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384048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777240"/>
            <a:ext cx="3840480" cy="27432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291840" cy="41148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NEW CAMPAIGN ONBOARDED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544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1A5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291840" cy="4114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UNDERSTAND SUCCESS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57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1A5"/>
                </a:solidFill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40"/>
            <a:ext cx="3291840" cy="41148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3168"/>
                </a:solidFill>
              </a:defRPr>
            </a:pPr>
            <a:r>
              <a:t>3. DOCUMENT IN SUCCESS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5603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1A5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51760"/>
            <a:ext cx="3291840" cy="41148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SUCCESS LIBRARY GROWS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63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1A5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3291840" cy="41148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5. GOVERNANCE IMPROVES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66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1A5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3291840" cy="41148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3168"/>
                </a:solidFill>
              </a:defRPr>
            </a:pPr>
            <a:r>
              <a:t>6. NEXT CAMPAIGN IS FASTER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777240"/>
            <a:ext cx="777240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777240"/>
            <a:ext cx="7772400" cy="27432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SUCCESS LIBRARY GROWTH OVER 6 CAMPAIGNS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097280"/>
            <a:ext cx="7498079" cy="438912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1155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VCN: Card Acquisition → DEFINE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1316736"/>
            <a:ext cx="914400" cy="18288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card_acquisi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47120" y="1207007"/>
            <a:ext cx="457200" cy="164592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03168"/>
                </a:solidFill>
              </a:defRPr>
            </a:pPr>
            <a:r>
              <a:t>NEW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1572768"/>
            <a:ext cx="7498079" cy="438912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59105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VDA: Card Acquisition → REUSE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1792224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card_acquisi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64240" y="1682495"/>
            <a:ext cx="640080" cy="164592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REUSED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048256"/>
            <a:ext cx="7498079" cy="438912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0665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VDT: Card Activation → DEFINE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2267712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card_acquisi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79" y="2267712"/>
            <a:ext cx="914400" cy="18288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card_activat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247120" y="2157984"/>
            <a:ext cx="457200" cy="164592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03168"/>
                </a:solidFill>
              </a:defRPr>
            </a:pPr>
            <a:r>
              <a:t>NEW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2523744"/>
            <a:ext cx="7498079" cy="438912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25420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VUI: Card Usage → DEFINE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2743200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card_acquisi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79" y="2743200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card_activat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2743200"/>
            <a:ext cx="914400" cy="18288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card_usage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47120" y="2633472"/>
            <a:ext cx="457200" cy="164592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03168"/>
                </a:solidFill>
              </a:defRPr>
            </a:pPr>
            <a:r>
              <a:t>NEW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2999232"/>
            <a:ext cx="7498079" cy="438912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0175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VUT: Wallet Provisioning → DEFINE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3218688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card_acquisi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40679" y="3218688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card_activat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3218688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card_usage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0" y="3218688"/>
            <a:ext cx="914400" cy="18288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wallet_provi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47120" y="3108960"/>
            <a:ext cx="457200" cy="164592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03168"/>
                </a:solidFill>
              </a:defRPr>
            </a:pPr>
            <a:r>
              <a:t>NEW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3474720"/>
            <a:ext cx="7498079" cy="438912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34930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VAW: Wallet Provisioning → REUSE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3694176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card_acquisi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0679" y="3694176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card_activat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46520" y="3694176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card_usage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52360" y="3694176"/>
            <a:ext cx="914400" cy="1828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wallet_provi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064240" y="3584448"/>
            <a:ext cx="640080" cy="164592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REUSED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6240" y="4846320"/>
            <a:ext cx="7772400" cy="54864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168"/>
                </a:solidFill>
              </a:defRPr>
            </a:pPr>
            <a:r>
              <a:t>RESULT: 6 campaigns onboarded, only 4 unique metrics defined</a:t>
            </a:r>
            <a:br/>
            <a:r>
              <a:t>FUTURE: Campaign 7, 8, 9... likely REUSE existing metrics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2880" y="5577840"/>
            <a:ext cx="11795760" cy="73152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MESSAGE</a:t>
            </a:r>
            <a:br/>
            <a:br/>
            <a:r>
              <a:t>"Every campaign onboarded enriches our metadata ecosystem.</a:t>
            </a:r>
            <a:br/>
            <a:r>
              <a:t>We're not just measuring campaigns - we're BUILDING THE SOURCE OF TRUTH."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168"/>
                </a:solidFill>
              </a:defRPr>
            </a:pPr>
            <a:r>
              <a:t>Modular Swap Architecture - What Swaps To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3168"/>
                </a:solidFill>
              </a:defRPr>
            </a:pPr>
            <a:r>
              <a:t>Each hardcoded component has a SPECIFIC future replacement. When infrastructure is ready, we swap - no engine rewrite.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40080"/>
            <a:ext cx="117957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640080"/>
            <a:ext cx="11795760" cy="2560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168"/>
                </a:solidFill>
              </a:defRPr>
            </a:pPr>
            <a:r>
              <a:t>LAYER 2: Campaign Metadata — "What metric should we measure?"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5303520" cy="201168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TODAY: HARDCODED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303520" cy="100584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CAMPAIGN_METADATA = {</a:t>
            </a:r>
            <a:br/>
            <a:r>
              <a:t>  "VCN": {"primary_metric": "card_acquisition"},</a:t>
            </a:r>
            <a:br/>
            <a:r>
              <a:t>  "VDA": {...}, "VDT": {...},</a:t>
            </a:r>
            <a:br/>
            <a:r>
              <a:t>  "VUI": {...}, "VUT": {...}, "VAW": {...}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554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CA311"/>
                </a:solidFill>
              </a:defRPr>
            </a:pPr>
            <a:r>
              <a:t>SWAP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960120"/>
            <a:ext cx="5394960" cy="201168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FUTURE: QUERY MNEMONIC MAPPING 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188720"/>
            <a:ext cx="5394960" cy="100584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SELECT primary_metric, secondary_metric</a:t>
            </a:r>
            <a:br/>
            <a:r>
              <a:t>FROM CIDM_MNEMONIC_ATTRS</a:t>
            </a:r>
            <a:br/>
            <a:r>
              <a:t>WHERE mne = 'VCN'</a:t>
            </a:r>
            <a:br/>
            <a:br/>
            <a:r>
              <a:t>When MM v2 has metric fields → this dict becomes a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377440"/>
            <a:ext cx="117957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" y="2377440"/>
            <a:ext cx="11795760" cy="2560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168"/>
                </a:solidFill>
              </a:defRPr>
            </a:pPr>
            <a:r>
              <a:t>LAYER 3: Success Definitions — "HOW do we calculate this metric?"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697480"/>
            <a:ext cx="5303520" cy="201168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TODAY: HARDCODED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926080"/>
            <a:ext cx="5303520" cy="137160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SUCCESS_DEFINITIONS = {</a:t>
            </a:r>
            <a:br/>
            <a:r>
              <a:t>  "card_acquisition": {</a:t>
            </a:r>
            <a:br/>
            <a:r>
              <a:t>    "table": "VISA_DR_CRD",</a:t>
            </a:r>
            <a:br/>
            <a:r>
              <a:t>    "filters": {"STS_CD": ["06","08"]},</a:t>
            </a:r>
            <a:br/>
            <a:r>
              <a:t>    "date_field": "ISS_DT"</a:t>
            </a:r>
            <a:br/>
            <a:r>
              <a:t>  },</a:t>
            </a:r>
            <a:br/>
            <a:r>
              <a:t>  "card_activation": {...},</a:t>
            </a:r>
            <a:br/>
            <a:r>
              <a:t>  "card_usage": {...}, ...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74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CA311"/>
                </a:solidFill>
              </a:defRPr>
            </a:pPr>
            <a:r>
              <a:t>SWAP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697480"/>
            <a:ext cx="5394960" cy="201168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FUTURE: SUCCESS LIBRARY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926080"/>
            <a:ext cx="2606040" cy="82296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Option A: GitHub %Run</a:t>
            </a:r>
            <a:br/>
            <a:br/>
            <a:r>
              <a:t>%run /success_library/</a:t>
            </a:r>
            <a:br/>
            <a:r>
              <a:t>      card_acquisition.py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926080"/>
            <a:ext cx="2697480" cy="82296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Option B: Curated Dataset</a:t>
            </a:r>
            <a:br/>
            <a:br/>
            <a:r>
              <a:t>SELECT * FROM</a:t>
            </a:r>
            <a:br/>
            <a:r>
              <a:t>semantic.success_card_acq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794760"/>
            <a:ext cx="5394960" cy="50292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4 metrics × 6 fields = 24 items today → GitHub repo OR semantic layer when 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" y="4526280"/>
            <a:ext cx="117957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2880" y="4526280"/>
            <a:ext cx="11795760" cy="256032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SWAP POINTS SUMMARY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828032"/>
            <a:ext cx="1097280" cy="22860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4828032"/>
            <a:ext cx="3200400" cy="22860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WHAT'S HARDCODED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4828032"/>
            <a:ext cx="3200400" cy="22860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SWAPS 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828032"/>
            <a:ext cx="3474720" cy="22860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TRIGGER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084064"/>
            <a:ext cx="1097280" cy="256032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0840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YEARS, TEST_GROUP (3 items)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50840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Experiment Metadata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0840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Table built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5376672"/>
            <a:ext cx="1097280" cy="2560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3168"/>
                </a:solidFill>
              </a:defRPr>
            </a:pPr>
            <a:r>
              <a:t>Layer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3766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CAMPAIGN_METADATA (18 items)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3766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Mnemonic Mapping v2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5376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MM v2 has metric fields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669279"/>
            <a:ext cx="1097280" cy="2560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3168"/>
                </a:solidFill>
              </a:defRPr>
            </a:pPr>
            <a:r>
              <a:t>Layer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669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SUCCESS_DEFINITIONS (24 items)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669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GitHub or Semantic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6692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Library exists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5961888"/>
            <a:ext cx="1097280" cy="256032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Layer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59618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Source paths (8 items)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59618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Client Journey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59618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Layer built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" y="6291072"/>
            <a:ext cx="11795760" cy="36576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3168"/>
                </a:solidFill>
              </a:defRPr>
            </a:pPr>
            <a:r>
              <a:t>TOTAL: 53 hardcoded items → Dynamic queries when infrastructure ready | ENGINE CORE: Does NOT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3168"/>
                </a:solidFill>
              </a:defRPr>
            </a:pPr>
            <a:r>
              <a:t>Vintage Automation -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3168"/>
                </a:solidFill>
              </a:defRPr>
            </a:pPr>
            <a:r>
              <a:t>Strategic roadmap and decisions to be made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85800"/>
            <a:ext cx="3794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685800"/>
            <a:ext cx="3794760" cy="27432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Adding New Cohorts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3611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For existing campaigns</a:t>
            </a:r>
            <a:br/>
            <a:br/>
            <a:r>
              <a:t>TRACK A (Official):</a:t>
            </a:r>
            <a:br/>
            <a:r>
              <a:t>• Automated refresh with CIDM</a:t>
            </a:r>
            <a:br/>
            <a:r>
              <a:t>• New cohorts appear automatically</a:t>
            </a:r>
            <a:br/>
            <a:br/>
            <a:r>
              <a:t>TRACK B (In-House):</a:t>
            </a:r>
            <a:br/>
            <a:r>
              <a:t>• Re-run engine</a:t>
            </a:r>
            <a:br/>
            <a:r>
              <a:t>• Update HTML, deploy to SharePoint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685800"/>
            <a:ext cx="3794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959" y="685800"/>
            <a:ext cx="3794760" cy="27432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168"/>
                </a:solidFill>
              </a:defRPr>
            </a:pPr>
            <a:r>
              <a:t>2. Expand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399" y="1005840"/>
            <a:ext cx="3611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What else can we vintage?</a:t>
            </a:r>
            <a:br/>
            <a:br/>
            <a:r>
              <a:t>SUCCESS METRICS:</a:t>
            </a:r>
            <a:br/>
            <a:r>
              <a:t>• Primary / Secondary / Tertiary</a:t>
            </a:r>
            <a:br/>
            <a:br/>
            <a:r>
              <a:t>ENGAGEMENT:</a:t>
            </a:r>
            <a:br/>
            <a:r>
              <a:t>• Open rate, Click rate curves</a:t>
            </a:r>
            <a:br/>
            <a:br/>
            <a:r>
              <a:t>SEGMENT BREAKDOWNS:</a:t>
            </a:r>
            <a:br/>
            <a:r>
              <a:t>• By channel, by segment</a:t>
            </a:r>
            <a:br/>
            <a:br/>
            <a:r>
              <a:t>[TO BE FIGURED OUT]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685800"/>
            <a:ext cx="3794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685800"/>
            <a:ext cx="3794760" cy="27432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Hosting &amp;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005840"/>
            <a:ext cx="3611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Where does this live?</a:t>
            </a:r>
            <a:br/>
            <a:br/>
            <a:r>
              <a:t>Option A: SharePoint</a:t>
            </a:r>
            <a:br/>
            <a:r>
              <a:t>• Quick, manual refresh</a:t>
            </a:r>
            <a:br/>
            <a:br/>
            <a:r>
              <a:t>Option B: Tableau/CIDM</a:t>
            </a:r>
            <a:br/>
            <a:r>
              <a:t>• Official, governed</a:t>
            </a:r>
            <a:br/>
            <a:br/>
            <a:r>
              <a:t>Option C: Snowflake/New</a:t>
            </a:r>
            <a:br/>
            <a:r>
              <a:t>• Modern, scalable</a:t>
            </a:r>
            <a:br/>
            <a:br/>
            <a:r>
              <a:t>[DECISION PENDING]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246120"/>
            <a:ext cx="11612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3246120"/>
            <a:ext cx="11612880" cy="256032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DECISIONS TO MAKE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547872"/>
            <a:ext cx="2743200" cy="22860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Refresh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22191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• How often?</a:t>
            </a:r>
            <a:br/>
            <a:r>
              <a:t>• Who triggers?</a:t>
            </a:r>
            <a:br/>
            <a:r>
              <a:t>• Automated vs manual?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547872"/>
            <a:ext cx="2743200" cy="22860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Metric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822191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• What secondary metrics?</a:t>
            </a:r>
            <a:br/>
            <a:r>
              <a:t>• Which engagement?</a:t>
            </a:r>
            <a:br/>
            <a:r>
              <a:t>• Director input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47872"/>
            <a:ext cx="2743200" cy="22860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822191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• SharePoint enough?</a:t>
            </a:r>
            <a:br/>
            <a:r>
              <a:t>• Move to Snowflake?</a:t>
            </a:r>
            <a:br/>
            <a:r>
              <a:t>• Org direction?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3547872"/>
            <a:ext cx="2743200" cy="22860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Track A vs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3822191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</a:defRPr>
            </a:pPr>
            <a:r>
              <a:t>• Both parallel?</a:t>
            </a:r>
            <a:br/>
            <a:r>
              <a:t>• When does A take over?</a:t>
            </a:r>
            <a:br/>
            <a:r>
              <a:t>• Does B sunset?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709160"/>
            <a:ext cx="11612880" cy="59436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KEY MESSAGE</a:t>
            </a:r>
            <a:br/>
            <a:br/>
            <a:r>
              <a:t>Engine is built. Now we need to decide: how do we refresh, what else do we measure, and where does it live?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394960"/>
            <a:ext cx="1161288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" y="5394960"/>
            <a:ext cx="11612880" cy="22860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CURRENT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669280"/>
            <a:ext cx="3657600" cy="54864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✓ DONE</a:t>
            </a:r>
            <a:br/>
            <a:r>
              <a:t>• Engine built</a:t>
            </a:r>
            <a:br/>
            <a:r>
              <a:t>• 6 pilots configured</a:t>
            </a:r>
            <a:br/>
            <a:r>
              <a:t>• Channel detection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5669280"/>
            <a:ext cx="3657600" cy="54864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3168"/>
                </a:solidFill>
              </a:defRPr>
            </a:pPr>
            <a:r>
              <a:t>◐ IN PROGRESS</a:t>
            </a:r>
            <a:br/>
            <a:r>
              <a:t>• Track B dashboard</a:t>
            </a:r>
            <a:br/>
            <a:r>
              <a:t>• Success Library (4)</a:t>
            </a:r>
            <a:br/>
            <a:r>
              <a:t>• Swap points documented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669280"/>
            <a:ext cx="3657600" cy="548640"/>
          </a:xfrm>
          <a:prstGeom prst="roundRect">
            <a:avLst/>
          </a:prstGeom>
          <a:solidFill>
            <a:srgbClr val="9E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○ TO DO</a:t>
            </a:r>
            <a:br/>
            <a:r>
              <a:t>• Track A alignment</a:t>
            </a:r>
            <a:br/>
            <a:r>
              <a:t>• Hosting decision</a:t>
            </a:r>
            <a:br/>
            <a:r>
              <a:t>• Metric expansion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168"/>
                </a:solidFill>
              </a:defRPr>
            </a:pPr>
            <a:r>
              <a:t>VINTAGE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114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3168"/>
                </a:solidFill>
              </a:defRPr>
            </a:pPr>
            <a:r>
              <a:t>Implementing the SuperFact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2743200" cy="329184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168"/>
                </a:solidFill>
              </a:defRPr>
            </a:pPr>
            <a:r>
              <a:t>SUPERFACT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1828800" cy="50292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Layer 1: Experiment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234439"/>
            <a:ext cx="594360" cy="22860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FROM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783080"/>
            <a:ext cx="1828800" cy="50292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Layer 2: Campaign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920240"/>
            <a:ext cx="594360" cy="22860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03168"/>
                </a:solidFill>
              </a:defRPr>
            </a:pPr>
            <a:r>
              <a:t>SWAP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468880"/>
            <a:ext cx="1828800" cy="50292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Layer 3: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606040"/>
            <a:ext cx="594360" cy="22860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03168"/>
                </a:solidFill>
              </a:defRPr>
            </a:pPr>
            <a:r>
              <a:t>SWAP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154680"/>
            <a:ext cx="1828800" cy="50292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Layer 4: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3291840"/>
            <a:ext cx="594360" cy="22860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FROM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8404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L1 &amp; L4: From Data NOW</a:t>
            </a:r>
            <a:br/>
            <a:r>
              <a:t>L2 &amp; L3: Swap when 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777240"/>
            <a:ext cx="2926080" cy="274320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VINTAGE</a:t>
            </a:r>
            <a:br/>
            <a:r>
              <a:t>AUTOMATION</a:t>
            </a:r>
            <a:br/>
            <a:r>
              <a:t>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1554480"/>
            <a:ext cx="26517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6002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168"/>
                </a:solidFill>
              </a:defRPr>
            </a:pPr>
            <a:r>
              <a:t>6 Pilot Campaigns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168"/>
                </a:solidFill>
              </a:defRPr>
            </a:pPr>
            <a:r>
              <a:t>VCN   VDA   VDT</a:t>
            </a:r>
            <a:br/>
            <a:r>
              <a:t>VUI   VUT   VAW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606040"/>
            <a:ext cx="2651760" cy="77724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2651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Produces:</a:t>
            </a:r>
            <a:br/>
            <a:r>
              <a:t>Vintage Curves</a:t>
            </a:r>
            <a:br/>
            <a:r>
              <a:t>Lift +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1A5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7AFBF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777240"/>
            <a:ext cx="2103120" cy="1280160"/>
          </a:xfrm>
          <a:prstGeom prst="round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868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TRACK A</a:t>
            </a:r>
            <a:br/>
            <a:r>
              <a:t>Official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280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Tableau/CIDM</a:t>
            </a:r>
            <a:br/>
            <a:r>
              <a:t>• Governed</a:t>
            </a:r>
            <a:br/>
            <a:r>
              <a:t>• Official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194560"/>
            <a:ext cx="2103120" cy="128016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2860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TRACK B</a:t>
            </a:r>
            <a:br/>
            <a:r>
              <a:t>In-House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97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HTML/Plotly</a:t>
            </a:r>
            <a:br/>
            <a:r>
              <a:t>• SharePoint</a:t>
            </a:r>
            <a:br/>
            <a:r>
              <a:t>• Ready NOW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" y="4160520"/>
            <a:ext cx="8321040" cy="1005840"/>
          </a:xfrm>
          <a:prstGeom prst="roundRect">
            <a:avLst/>
          </a:prstGeom>
          <a:solidFill>
            <a:srgbClr val="FCA311"/>
          </a:solidFill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20624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168"/>
                </a:solidFill>
              </a:defRPr>
            </a:pPr>
            <a:r>
              <a:t>VIRTUOUS CYCLE: Success Library Growth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480560"/>
            <a:ext cx="1005840" cy="54864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New</a:t>
            </a:r>
            <a:br/>
            <a:r>
              <a:t>Campaign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19" y="46634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7360" y="4480560"/>
            <a:ext cx="1005840" cy="54864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Define</a:t>
            </a:r>
            <a:br/>
            <a:r>
              <a:t>Success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46634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4480560"/>
            <a:ext cx="1005840" cy="54864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Add to</a:t>
            </a:r>
            <a:br/>
            <a:r>
              <a:t>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46634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4480560"/>
            <a:ext cx="1005840" cy="54864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Library</a:t>
            </a:r>
            <a:br/>
            <a:r>
              <a:t>Grows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46634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0" y="4480560"/>
            <a:ext cx="1005840" cy="54864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More</a:t>
            </a:r>
            <a:br/>
            <a:r>
              <a:t>Governance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6634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4480560"/>
            <a:ext cx="1005840" cy="54864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Next is</a:t>
            </a:r>
            <a:br/>
            <a:r>
              <a:t>FASTER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777240"/>
            <a:ext cx="329184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686800" y="777240"/>
            <a:ext cx="3291840" cy="256032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78240" y="1097280"/>
            <a:ext cx="3108960" cy="201168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1. Adding New Cohorts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• Track A: Automated with CIDM</a:t>
            </a:r>
            <a:br/>
            <a:r>
              <a:t>• Track B: Re-run, update HTML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0" y="1783080"/>
            <a:ext cx="3108960" cy="201168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3168"/>
                </a:solidFill>
              </a:defRPr>
            </a:pPr>
            <a:r>
              <a:t>2. Expand 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• Primary/Secondary/Tertiary</a:t>
            </a:r>
            <a:br/>
            <a:r>
              <a:t>• Email engagement curves</a:t>
            </a:r>
            <a:br/>
            <a:r>
              <a:t>• Segment breakdowns [TBD]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78240" y="2560320"/>
            <a:ext cx="3108960" cy="201168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3. Hosting 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• SharePoint (quick)</a:t>
            </a:r>
            <a:br/>
            <a:r>
              <a:t>• Tableau/CIDM (official)</a:t>
            </a:r>
            <a:br/>
            <a:r>
              <a:t>• Snowflake (modern) [TBD]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78240" y="3337560"/>
            <a:ext cx="3108960" cy="201168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DECISIONS PENDING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3566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• Refresh cadence</a:t>
            </a:r>
            <a:br/>
            <a:r>
              <a:t>• Metric prioritization</a:t>
            </a:r>
            <a:br/>
            <a:r>
              <a:t>• Track A vs B balance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78240" y="4114800"/>
            <a:ext cx="310896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869680" y="4160520"/>
            <a:ext cx="914400" cy="182880"/>
          </a:xfrm>
          <a:prstGeom prst="round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✓ Done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75520" y="4160520"/>
            <a:ext cx="1005840" cy="18288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03168"/>
                </a:solidFill>
              </a:defRPr>
            </a:pPr>
            <a:r>
              <a:t>◐ Progress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72800" y="4160520"/>
            <a:ext cx="822960" cy="182880"/>
          </a:xfrm>
          <a:prstGeom prst="roundRect">
            <a:avLst/>
          </a:prstGeom>
          <a:solidFill>
            <a:srgbClr val="9E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○ To 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3168"/>
                </a:solidFill>
              </a:defRPr>
            </a:pPr>
            <a:r>
              <a:t>Engine built → Dashboard ready → Decisions pending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" y="5303520"/>
            <a:ext cx="5486400" cy="45720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5349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168"/>
                </a:solidFill>
              </a:defRPr>
            </a:pPr>
            <a:r>
              <a:t>LEGEND: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5840" y="5394960"/>
            <a:ext cx="182880" cy="13716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34440" y="5349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FROM DATA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77440" y="5394960"/>
            <a:ext cx="182880" cy="137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6040" y="5349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SWAP POINT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749039" y="5394960"/>
            <a:ext cx="182880" cy="137160"/>
          </a:xfrm>
          <a:prstGeom prst="round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77639" y="53492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3168"/>
                </a:solidFill>
              </a:defRPr>
            </a:pPr>
            <a:r>
              <a:t>VIRTUOUS CYCLE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760720" y="5303520"/>
            <a:ext cx="6217920" cy="457200"/>
          </a:xfrm>
          <a:prstGeom prst="round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Engine is built. Next: refresh process, expand metrics, decide on hosting.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