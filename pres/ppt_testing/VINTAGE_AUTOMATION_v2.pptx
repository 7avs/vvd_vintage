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3168"/>
                </a:solidFill>
              </a:defRPr>
            </a:pPr>
            <a:r>
              <a:t>VINTAGE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EA2A2"/>
                </a:solidFill>
              </a:defRPr>
            </a:pPr>
            <a:r>
              <a:t>Implementing the SuperFact Framework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3931920"/>
            <a:ext cx="3044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168"/>
                </a:solidFill>
              </a:defRPr>
            </a:pPr>
            <a: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2A2"/>
                </a:solidFill>
              </a:defRPr>
            </a:pPr>
            <a:r>
              <a:t>SuperFact layers feed the engine, engine produces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EA2A2"/>
                </a:solidFill>
              </a:defRPr>
            </a:pPr>
            <a:r>
              <a:t>SUPERFACT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03120" cy="914400"/>
          </a:xfrm>
          <a:prstGeom prst="roundRect">
            <a:avLst/>
          </a:prstGeom>
          <a:noFill/>
          <a:ln w="1905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Layer 1</a:t>
            </a:r>
            <a:br/>
            <a:r>
              <a:t>Experiment</a:t>
            </a:r>
            <a:br/>
            <a:r>
              <a:t>Metadata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331720"/>
            <a:ext cx="731520" cy="164592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FROM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371600"/>
            <a:ext cx="2103120" cy="914400"/>
          </a:xfrm>
          <a:prstGeom prst="roundRect">
            <a:avLst/>
          </a:prstGeom>
          <a:noFill/>
          <a:ln w="1905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Layer 2</a:t>
            </a:r>
            <a:br/>
            <a:r>
              <a:t>Campaign</a:t>
            </a:r>
            <a:br/>
            <a:r>
              <a:t>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331720"/>
            <a:ext cx="731520" cy="16459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03168"/>
                </a:solidFill>
              </a:defRPr>
            </a:pPr>
            <a:r>
              <a:t>SWAP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2103120" cy="914400"/>
          </a:xfrm>
          <a:prstGeom prst="roundRect">
            <a:avLst/>
          </a:prstGeom>
          <a:noFill/>
          <a:ln w="1905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Layer 3</a:t>
            </a:r>
            <a:br/>
            <a:r>
              <a:t>Success</a:t>
            </a:r>
            <a:br/>
            <a:r>
              <a:t>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331720"/>
            <a:ext cx="731520" cy="16459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03168"/>
                </a:solidFill>
              </a:defRPr>
            </a:pPr>
            <a:r>
              <a:t>SWAP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71600"/>
            <a:ext cx="2103120" cy="914400"/>
          </a:xfrm>
          <a:prstGeom prst="roundRect">
            <a:avLst/>
          </a:prstGeom>
          <a:noFill/>
          <a:ln w="1905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Layer 4</a:t>
            </a:r>
            <a:br/>
            <a:r>
              <a:t>Client</a:t>
            </a:r>
            <a:br/>
            <a:r>
              <a:t>Journey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31720"/>
            <a:ext cx="731520" cy="164592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FROM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060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926080"/>
            <a:ext cx="5788152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0175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168"/>
                </a:solidFill>
              </a:defRPr>
            </a:pPr>
            <a:r>
              <a:t>VINTAGE AUTOMATION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3832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A2A2"/>
                </a:solidFill>
              </a:defRPr>
            </a:pPr>
            <a:r>
              <a:t>vintage_all_in_one.py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703320"/>
            <a:ext cx="4873752" cy="73152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749039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6 Pilot 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977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3168"/>
                </a:solidFill>
              </a:defRPr>
            </a:pPr>
            <a:r>
              <a:t>VCN    VDA    VDT    VUI    VUT    VAW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6634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983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CSV / HDFS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2120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486400"/>
            <a:ext cx="2926080" cy="109728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5532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TRACK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760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A2A2"/>
                </a:solidFill>
              </a:defRPr>
            </a:pPr>
            <a:r>
              <a:t>Official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989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• Tableau / CIDM</a:t>
            </a:r>
            <a:br/>
            <a:r>
              <a:t>• Governed</a:t>
            </a:r>
            <a:br/>
            <a:r>
              <a:t>• Pending alignment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5486400"/>
            <a:ext cx="2926080" cy="109728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532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TRACK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760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A2A2"/>
                </a:solidFill>
              </a:defRPr>
            </a:pPr>
            <a:r>
              <a:t>In-House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989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• HTML / Plotly</a:t>
            </a:r>
            <a:br/>
            <a:r>
              <a:t>• SharePoint</a:t>
            </a:r>
            <a:br/>
            <a:r>
              <a:t>• Ready 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10972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EA2A2"/>
                </a:solidFill>
              </a:defRPr>
            </a:pPr>
            <a:r>
              <a:t>LEGEND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1200" y="1325880"/>
            <a:ext cx="182880" cy="0"/>
          </a:xfrm>
          <a:prstGeom prst="line">
            <a:avLst/>
          </a:prstGeom>
          <a:ln w="38100">
            <a:solidFill>
              <a:srgbClr val="009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875520" y="1234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From Data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01200" y="1554480"/>
            <a:ext cx="182880" cy="0"/>
          </a:xfrm>
          <a:prstGeom prst="line">
            <a:avLst/>
          </a:prstGeom>
          <a:ln w="38100">
            <a:solidFill>
              <a:srgbClr val="FFC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875520" y="1463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Swap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168"/>
                </a:solidFill>
              </a:defRPr>
            </a:pPr>
            <a:r>
              <a:t>The Virtuous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2A2"/>
                </a:solidFill>
              </a:defRPr>
            </a:pPr>
            <a:r>
              <a:t>As we add campaigns, we build the Success Library. The library grows. Next campaign is faster.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365760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EA2A2"/>
                </a:solidFill>
              </a:defRPr>
            </a:pPr>
            <a:r>
              <a:t>THE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480560" cy="36576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1. New Campaign Onboarded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4480560" cy="36576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2. Understand Success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4480560" cy="365760"/>
          </a:xfrm>
          <a:prstGeom prst="roundRect">
            <a:avLst/>
          </a:prstGeom>
          <a:noFill/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3. Document in Success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80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4480560" cy="36576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4. Success Library Grows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7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39"/>
            <a:ext cx="4480560" cy="36576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5. Governance Improves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8862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EA2A2"/>
                </a:solidFill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59"/>
            <a:ext cx="4480560" cy="36576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6. Next Campaign is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EA2A2"/>
                </a:solidFill>
              </a:defRPr>
            </a:pPr>
            <a:r>
              <a:t>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097280"/>
            <a:ext cx="6217920" cy="365760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18872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EA2A2"/>
                </a:solidFill>
              </a:defRPr>
            </a:pPr>
            <a:r>
              <a:t>SUCCESS LIBRARY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VCN: Card Acquisition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581912"/>
            <a:ext cx="731520" cy="164592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card_acq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VDA: Card Acquisition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947672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card_acq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2402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VDT: Card Activation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313432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card_acq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2313432"/>
            <a:ext cx="731520" cy="164592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card_act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606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VUI: Card Usage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67919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card_acq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267919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679191"/>
            <a:ext cx="731520" cy="164592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card_use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9717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VUT: Wallet Provision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04495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card_acq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304495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304495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card_use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3044951"/>
            <a:ext cx="731520" cy="164592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wallet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3375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VAW: Wallet Provision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41071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card_acq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341071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41071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card_use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69880" y="3410711"/>
            <a:ext cx="731520" cy="16459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9EA2A2"/>
                </a:solidFill>
              </a:defRPr>
            </a:pPr>
            <a:r>
              <a:t>wallet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0" y="3977639"/>
            <a:ext cx="6217920" cy="64008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RESULT: 6 campaigns, only 4 unique metrics</a:t>
            </a:r>
            <a:br/>
            <a:r>
              <a:t>Future campaigns reuse existing metrics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3168"/>
                </a:solidFill>
              </a:defRPr>
            </a:pPr>
            <a:r>
              <a:t>"Every campaign onboarded enriches our metadata ecosystem. We're building the source of truth."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168"/>
                </a:solidFill>
              </a:defRPr>
            </a:pPr>
            <a:r>
              <a:t>Swap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2A2"/>
                </a:solidFill>
              </a:defRPr>
            </a:pPr>
            <a:r>
              <a:t>Hardcoded today, dynamic when infrastructure is ready. Engine core doesn't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1554480"/>
          </a:xfrm>
          <a:prstGeom prst="roundRect">
            <a:avLst/>
          </a:prstGeom>
          <a:noFill/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</a:defRPr>
            </a:pPr>
            <a:r>
              <a:t>LAYER 2: Campaign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A2A2"/>
                </a:solidFill>
              </a:defRPr>
            </a:pPr>
            <a:r>
              <a:t>"What metric should we measure for this campaign?"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EA2A2"/>
                </a:solidFill>
              </a:defRPr>
            </a:pPr>
            <a: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4389120" cy="68580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CAMPAIGN_METADATA = {</a:t>
            </a:r>
            <a:br/>
            <a:r>
              <a:t>  "VCN": {"primary_metric": "card_acquisition"},</a:t>
            </a:r>
            <a:br/>
            <a:r>
              <a:t>  ...6 campaigns hardcoded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CA311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86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A311"/>
                </a:solidFill>
              </a:defRPr>
            </a:pPr>
            <a:r>
              <a:t>SWAP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EA2A2"/>
                </a:solidFill>
              </a:defRPr>
            </a:pPr>
            <a:r>
              <a:t>FUTURE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03520" cy="685800"/>
          </a:xfrm>
          <a:prstGeom prst="roundRect">
            <a:avLst/>
          </a:prstGeom>
          <a:noFill/>
          <a:ln w="1905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SELECT primary_metric, secondary_metric</a:t>
            </a:r>
            <a:br/>
            <a:r>
              <a:t>FROM CIDM_MNEMONIC_ATTRS</a:t>
            </a:r>
            <a:br/>
            <a:r>
              <a:t>WHERE mne = 'VCN'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11247120" cy="1554480"/>
          </a:xfrm>
          <a:prstGeom prst="roundRect">
            <a:avLst/>
          </a:prstGeom>
          <a:noFill/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</a:defRPr>
            </a:pPr>
            <a:r>
              <a:t>LAYER 3: Success Definitions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A2A2"/>
                </a:solidFill>
              </a:defRPr>
            </a:pPr>
            <a:r>
              <a:t>"HOW do we calculate this metric?"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EA2A2"/>
                </a:solidFill>
              </a:defRPr>
            </a:pPr>
            <a:r>
              <a:t>TODAY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4389120" cy="73152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SUCCESS_DEFINITIONS = {</a:t>
            </a:r>
            <a:br/>
            <a:r>
              <a:t>  "card_acquisition": {</a:t>
            </a:r>
            <a:br/>
            <a:r>
              <a:t>    "table": "VISA_DR_CRD", "filters": {...}</a:t>
            </a:r>
            <a:br/>
            <a:r>
              <a:t>  }... 4 metrics × 6 fields = 24 items</a:t>
            </a:r>
            <a:br/>
            <a: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CA311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A311"/>
                </a:solidFill>
              </a:defRPr>
            </a:pPr>
            <a:r>
              <a:t>SWAP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91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EA2A2"/>
                </a:solidFill>
              </a:defRPr>
            </a:pPr>
            <a:r>
              <a:t>FUTURE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2468880" cy="731520"/>
          </a:xfrm>
          <a:prstGeom prst="roundRect">
            <a:avLst/>
          </a:prstGeom>
          <a:noFill/>
          <a:ln w="1905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Option A:</a:t>
            </a:r>
            <a:br/>
            <a:r>
              <a:t>%run /success_library/</a:t>
            </a:r>
            <a:br/>
            <a:r>
              <a:t>      card_acquisition.py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3474720"/>
            <a:ext cx="2651760" cy="731520"/>
          </a:xfrm>
          <a:prstGeom prst="roundRect">
            <a:avLst/>
          </a:prstGeom>
          <a:noFill/>
          <a:ln w="1905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Option B:</a:t>
            </a:r>
            <a:br/>
            <a:r>
              <a:t>SELECT * FROM</a:t>
            </a:r>
            <a:br/>
            <a:r>
              <a:t>semantic.success_card_acq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EA2A2"/>
                </a:solidFill>
              </a:defRPr>
            </a:pPr>
            <a:r>
              <a:t>SUMMARY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09160"/>
            <a:ext cx="1097280" cy="274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4709160"/>
            <a:ext cx="3200400" cy="274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Hardcoded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709160"/>
            <a:ext cx="3200400" cy="274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Swaps 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709160"/>
            <a:ext cx="3200400" cy="274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Trigger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29200"/>
            <a:ext cx="1097280" cy="274320"/>
          </a:xfrm>
          <a:prstGeom prst="roundRect">
            <a:avLst/>
          </a:prstGeom>
          <a:noFill/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Years, test groups (3)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Experiment Metadata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Table built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49240"/>
            <a:ext cx="1097280" cy="274320"/>
          </a:xfrm>
          <a:prstGeom prst="roundRect">
            <a:avLst/>
          </a:prstGeom>
          <a:noFill/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39495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Campaign config (18)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39495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Mnemonic Mapping 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39495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MM v2 has metric fields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669279"/>
            <a:ext cx="1097280" cy="274320"/>
          </a:xfrm>
          <a:prstGeom prst="roundRect">
            <a:avLst/>
          </a:prstGeom>
          <a:noFill/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71499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Success definitions (24)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571499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GitHub or Semantic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71499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Library exists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89319"/>
            <a:ext cx="1097280" cy="274320"/>
          </a:xfrm>
          <a:prstGeom prst="roundRect">
            <a:avLst/>
          </a:prstGeom>
          <a:noFill/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603503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Source paths (8)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603503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Client Journey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03503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Layer built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6355080"/>
            <a:ext cx="11247120" cy="320040"/>
          </a:xfrm>
          <a:prstGeom prst="roundRect">
            <a:avLst/>
          </a:prstGeom>
          <a:noFill/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TOTAL: 53 hardcoded items → Dynamic queries when infrastructure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168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2A2"/>
                </a:solidFill>
              </a:defRPr>
            </a:pPr>
            <a:r>
              <a:t>Engine is built. Now: how do we refresh, what else do we measure, where does it live?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657600" cy="274320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6576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1. Adding New Cohorts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For existing campaigns</a:t>
            </a:r>
            <a:br/>
            <a:br/>
            <a:r>
              <a:t>Track A:</a:t>
            </a:r>
            <a:br/>
            <a:r>
              <a:t>• Automated refresh with CIDM</a:t>
            </a:r>
            <a:br/>
            <a:r>
              <a:t>• New cohorts appear automatically</a:t>
            </a:r>
            <a:br/>
            <a:br/>
            <a:r>
              <a:t>Track B:</a:t>
            </a:r>
            <a:br/>
            <a:r>
              <a:t>• Re-run engine</a:t>
            </a:r>
            <a:br/>
            <a:r>
              <a:t>• Update HTML, deploy to SharePoint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657600" cy="274320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6576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2. Expand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What else can we vintage?</a:t>
            </a:r>
            <a:br/>
            <a:br/>
            <a:r>
              <a:t>• Primary / Secondary / Tertiary</a:t>
            </a:r>
            <a:br/>
            <a:r>
              <a:t>• Email engagement curves</a:t>
            </a:r>
            <a:br/>
            <a:r>
              <a:t>• Segment breakdowns</a:t>
            </a:r>
            <a:br/>
            <a:r>
              <a:t>• Other comparisons</a:t>
            </a:r>
            <a:br/>
            <a:br/>
            <a:r>
              <a:t>[TO BE FIGURED OUT]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05840"/>
            <a:ext cx="3657600" cy="274320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6576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3. Hosting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4173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Where does this live?</a:t>
            </a:r>
            <a:br/>
            <a:br/>
            <a:r>
              <a:t>• SharePoint (quick, manual)</a:t>
            </a:r>
            <a:br/>
            <a:r>
              <a:t>• Tableau/CIDM (official, governed)</a:t>
            </a:r>
            <a:br/>
            <a:r>
              <a:t>• Snowflake/New (modern, scalable)</a:t>
            </a:r>
            <a:br/>
            <a:br/>
            <a:r>
              <a:t>[DECISION PENDING]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931920"/>
            <a:ext cx="1124712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4023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EA2A2"/>
                </a:solidFill>
              </a:defRPr>
            </a:pPr>
            <a:r>
              <a:t>DECISIONS 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3168"/>
                </a:solidFill>
              </a:defRPr>
            </a:pPr>
            <a:r>
              <a:t>Refresh cadence - how often?  •  Metric prioritization - what matters?  •  Technology platform - SharePoint vs Snowflake?  •  Track A vs B - both parallel or one takes over?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4846320"/>
            <a:ext cx="1124712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EA2A2"/>
                </a:solidFill>
              </a:defRPr>
            </a:pPr>
            <a:r>
              <a:t>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4937760"/>
            <a:ext cx="27432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✓ DONE</a:t>
            </a:r>
            <a:br/>
            <a:r>
              <a:t>Engine built, 6 pilots, channel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4937760"/>
            <a:ext cx="27432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◐ IN PROGRESS</a:t>
            </a:r>
            <a:br/>
            <a:r>
              <a:t>Dashboard ready, Success Library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937760"/>
            <a:ext cx="32004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EA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○ TO DO</a:t>
            </a:r>
            <a:br/>
            <a:r>
              <a:t>Track A alignment, hosting,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168"/>
                </a:solidFill>
              </a:defRPr>
            </a:pPr>
            <a:r>
              <a:t>VINTAGE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114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2A2"/>
                </a:solidFill>
              </a:defRPr>
            </a:pPr>
            <a:r>
              <a:t>Implementing the SuperFact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2011680" cy="182880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EA2A2"/>
                </a:solidFill>
              </a:defRPr>
            </a:pPr>
            <a:r>
              <a:t>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645920" cy="320040"/>
          </a:xfrm>
          <a:prstGeom prst="roundRect">
            <a:avLst/>
          </a:prstGeom>
          <a:noFill/>
          <a:ln w="1905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35607"/>
            <a:ext cx="1645920" cy="320040"/>
          </a:xfrm>
          <a:prstGeom prst="roundRect">
            <a:avLst/>
          </a:prstGeom>
          <a:noFill/>
          <a:ln w="1905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9655"/>
            <a:ext cx="1645920" cy="320040"/>
          </a:xfrm>
          <a:prstGeom prst="roundRect">
            <a:avLst/>
          </a:prstGeom>
          <a:noFill/>
          <a:ln w="1905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L3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03703"/>
            <a:ext cx="1645920" cy="320040"/>
          </a:xfrm>
          <a:prstGeom prst="roundRect">
            <a:avLst/>
          </a:prstGeom>
          <a:noFill/>
          <a:ln w="1905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L4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55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EA2A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777240"/>
            <a:ext cx="22860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868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6 Campaigns</a:t>
            </a:r>
            <a:br/>
            <a:r>
              <a:t>Vintage Curves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645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A2A2"/>
                </a:solidFill>
              </a:defRPr>
            </a:pPr>
            <a:r>
              <a:t>Lift + 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55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EA2A2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777240"/>
            <a:ext cx="2286000" cy="82296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8229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TRACK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005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A2A2"/>
                </a:solidFill>
              </a:defRPr>
            </a:pPr>
            <a:r>
              <a:t>Official</a:t>
            </a:r>
            <a:br/>
            <a:r>
              <a:t>Tableau/CIDM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691640"/>
            <a:ext cx="2286000" cy="82296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7373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TRACK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A2A2"/>
                </a:solidFill>
              </a:defRPr>
            </a:pPr>
            <a:r>
              <a:t>In-House</a:t>
            </a:r>
            <a:br/>
            <a:r>
              <a:t>HTML/Plotly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743200"/>
            <a:ext cx="7680960" cy="640080"/>
          </a:xfrm>
          <a:prstGeom prst="roundRect">
            <a:avLst/>
          </a:prstGeom>
          <a:noFill/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788920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CA311"/>
                </a:solidFill>
              </a:defRPr>
            </a:pPr>
            <a:r>
              <a:t>VIRTUOUS 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0175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New Campaign → Define Success → Add to Library → Library Grows → Next is Faster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520440"/>
            <a:ext cx="7680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EA2A2"/>
                </a:solidFill>
              </a:defRPr>
            </a:pPr>
            <a:r>
              <a:t>SWAP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7033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L2 &amp; L3 hardcoded today (53 items) → Dynamic queries when infrastructure ready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777240"/>
            <a:ext cx="3657600" cy="3200400"/>
          </a:xfrm>
          <a:prstGeom prst="roundRect">
            <a:avLst/>
          </a:prstGeom>
          <a:noFill/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822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NEXT STEPS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1097280"/>
            <a:ext cx="3383280" cy="228600"/>
          </a:xfrm>
          <a:prstGeom prst="roundRect">
            <a:avLst/>
          </a:prstGeom>
          <a:noFill/>
          <a:ln w="1905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1. Cohorts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3533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</a:defRPr>
            </a:pPr>
            <a:r>
              <a:t>Add new cohorts for existing campaigns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1645919"/>
            <a:ext cx="3383280" cy="228600"/>
          </a:xfrm>
          <a:prstGeom prst="roundRect">
            <a:avLst/>
          </a:prstGeom>
          <a:noFill/>
          <a:ln w="1905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2.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9019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</a:defRPr>
            </a:pPr>
            <a:r>
              <a:t>Expand what we measure [TBD]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94560"/>
            <a:ext cx="3383280" cy="228600"/>
          </a:xfrm>
          <a:prstGeom prst="roundRect">
            <a:avLst/>
          </a:prstGeom>
          <a:noFill/>
          <a:ln w="1905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3. Hosting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450591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</a:defRPr>
            </a:pPr>
            <a:r>
              <a:t>Where does this live? [TBD]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83464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EA2A2"/>
                </a:solidFill>
              </a:defRPr>
            </a:pPr>
            <a:r>
              <a:t>DECISIONS PENDING: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0175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• Refresh cadence</a:t>
            </a:r>
            <a:br/>
            <a:r>
              <a:t>• Metric priority</a:t>
            </a:r>
            <a:br/>
            <a:r>
              <a:t>• Track A vs B balance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4320" y="4114800"/>
            <a:ext cx="1133856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" y="4160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</a:defRPr>
            </a:pPr>
            <a:r>
              <a:t>LEGEND: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88720" y="4251960"/>
            <a:ext cx="182880" cy="0"/>
          </a:xfrm>
          <a:prstGeom prst="line">
            <a:avLst/>
          </a:prstGeom>
          <a:ln w="38100">
            <a:solidFill>
              <a:srgbClr val="009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17320" y="4160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From Data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60320" y="4251960"/>
            <a:ext cx="182880" cy="0"/>
          </a:xfrm>
          <a:prstGeom prst="line">
            <a:avLst/>
          </a:prstGeom>
          <a:ln w="38100">
            <a:solidFill>
              <a:srgbClr val="FFC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788920" y="4160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Swap Point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931920" y="4251960"/>
            <a:ext cx="182880" cy="0"/>
          </a:xfrm>
          <a:prstGeom prst="line">
            <a:avLst/>
          </a:prstGeom>
          <a:ln w="38100">
            <a:solidFill>
              <a:srgbClr val="FCA3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160520" y="41605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Key Emphasis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