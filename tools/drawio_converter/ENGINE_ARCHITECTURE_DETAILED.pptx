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172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05687" y="467348"/>
            <a:ext cx="3992780" cy="243833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900" b="1" i="0" u="none">
                <a:solidFill>
                  <a:srgbClr val="003168"/>
                </a:solidFill>
              </a:defRPr>
            </a:pPr>
            <a:r>
              <a:t>VINTAGE ENGINE: DATA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05687" y="680702"/>
            <a:ext cx="3992780" cy="162555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 i="1" u="none">
                <a:solidFill>
                  <a:srgbClr val="666666"/>
                </a:solidFill>
              </a:defRPr>
            </a:pPr>
            <a:r>
              <a:t>What data flows through each module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39" y="802619"/>
            <a:ext cx="6542876" cy="487667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44856" y="833099"/>
            <a:ext cx="2235144" cy="1320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 i="0" u="none">
                <a:solidFill>
                  <a:srgbClr val="666666"/>
                </a:solidFill>
              </a:defRPr>
            </a:pPr>
            <a:r>
              <a:t>SUPERFACT PILLARS (Team-Wide Initiatives)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4856" y="965175"/>
            <a:ext cx="802619" cy="243833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9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 i="0" u="none">
                <a:solidFill>
                  <a:srgbClr val="003168"/>
                </a:solidFill>
              </a:defRPr>
            </a:pPr>
            <a:r>
              <a:t>Experiment</a:t>
            </a:r>
            <a:br/>
            <a:r>
              <a:t>Metadata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43706" y="965175"/>
            <a:ext cx="802619" cy="243833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C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 i="0" u="none">
                <a:solidFill>
                  <a:srgbClr val="003168"/>
                </a:solidFill>
              </a:defRPr>
            </a:pPr>
            <a:r>
              <a:t>Campaign</a:t>
            </a:r>
            <a:br/>
            <a:r>
              <a:t>Metadata (MM v2)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35016" y="965175"/>
            <a:ext cx="802619" cy="243833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C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 i="0" u="none">
                <a:solidFill>
                  <a:srgbClr val="003168"/>
                </a:solidFill>
              </a:defRPr>
            </a:pPr>
            <a:r>
              <a:t>Success Library</a:t>
            </a:r>
            <a:br/>
            <a:r>
              <a:t>(Source of Truth)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36486" y="965175"/>
            <a:ext cx="802619" cy="243833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9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 i="0" u="none">
                <a:solidFill>
                  <a:srgbClr val="003168"/>
                </a:solidFill>
              </a:defRPr>
            </a:pPr>
            <a:r>
              <a:t>Client</a:t>
            </a:r>
            <a:br/>
            <a:r>
              <a:t>Journey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341086" y="1209009"/>
            <a:ext cx="1" cy="172716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539936" y="1209009"/>
            <a:ext cx="1" cy="172716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541406" y="1209009"/>
            <a:ext cx="1" cy="172716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532716" y="1209009"/>
            <a:ext cx="1" cy="172716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22939" y="1351246"/>
            <a:ext cx="6542876" cy="1706837"/>
          </a:xfrm>
          <a:prstGeom prst="roundRect">
            <a:avLst/>
          </a:prstGeom>
          <a:noFill/>
          <a:ln w="25400">
            <a:solidFill>
              <a:srgbClr val="003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4856" y="1391885"/>
            <a:ext cx="2235144" cy="14223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 i="0" u="none">
                <a:solidFill>
                  <a:srgbClr val="003168"/>
                </a:solidFill>
              </a:defRPr>
            </a:pPr>
            <a:r>
              <a:t>CONTEXT LAYER (Upgradable Modules)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4856" y="1564600"/>
            <a:ext cx="1198850" cy="7924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9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4856" y="1595080"/>
            <a:ext cx="1198850" cy="13207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 i="0" u="none">
                <a:solidFill>
                  <a:srgbClr val="003168"/>
                </a:solidFill>
              </a:defRPr>
            </a:pPr>
            <a:r>
              <a:t>EXPERIMENT MODULE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4856" y="1686517"/>
            <a:ext cx="1198850" cy="111757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 i="1" u="none">
                <a:solidFill>
                  <a:srgbClr val="666666"/>
                </a:solidFill>
              </a:defRPr>
            </a:pPr>
            <a:r>
              <a:t>"Who is in the test?"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6134" y="1788115"/>
            <a:ext cx="1036294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4856" y="1828754"/>
            <a:ext cx="1198850" cy="487667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 i="0" u="none">
                <a:solidFill>
                  <a:srgbClr val="003168"/>
                </a:solidFill>
              </a:defRPr>
            </a:pPr>
            <a:r>
              <a:t>- client_id</a:t>
            </a:r>
            <a:br/>
            <a:r>
              <a:t>- segment</a:t>
            </a:r>
            <a:br/>
            <a:r>
              <a:t>- treatment_flag</a:t>
            </a:r>
            <a:br/>
            <a:r>
              <a:t>- channel</a:t>
            </a:r>
            <a:br/>
            <a:r>
              <a:t>- start_date</a:t>
            </a:r>
            <a:br/>
            <a:r>
              <a:t>- frequency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43706" y="1564600"/>
            <a:ext cx="1198850" cy="7924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C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2743131" y="1513802"/>
            <a:ext cx="436869" cy="101597"/>
          </a:xfrm>
          <a:prstGeom prst="roundRect">
            <a:avLst/>
          </a:prstGeom>
          <a:solidFill>
            <a:srgbClr val="FFC72C"/>
          </a:solidFill>
          <a:ln w="12700">
            <a:solidFill>
              <a:srgbClr val="FFC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00" b="1" i="0" u="none">
                <a:solidFill>
                  <a:srgbClr val="003168"/>
                </a:solidFill>
              </a:defRPr>
            </a:pPr>
            <a:r>
              <a:t>UPGRADABLE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3706" y="1595080"/>
            <a:ext cx="1198850" cy="13207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 i="0" u="none">
                <a:solidFill>
                  <a:srgbClr val="003168"/>
                </a:solidFill>
              </a:defRPr>
            </a:pPr>
            <a:r>
              <a:t>CAMPAIGN MODULE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43706" y="1686517"/>
            <a:ext cx="1198850" cy="111757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 i="1" u="none">
                <a:solidFill>
                  <a:srgbClr val="666666"/>
                </a:solidFill>
              </a:defRPr>
            </a:pPr>
            <a:r>
              <a:t>"What metric to measure?"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24984" y="1788115"/>
            <a:ext cx="1036294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143706" y="1828754"/>
            <a:ext cx="1198850" cy="487667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 i="0" u="none">
                <a:solidFill>
                  <a:srgbClr val="003168"/>
                </a:solidFill>
              </a:defRPr>
            </a:pPr>
            <a:r>
              <a:t>- primary_metric</a:t>
            </a:r>
            <a:br/>
            <a:r>
              <a:t>- secondary_metric</a:t>
            </a:r>
            <a:br/>
            <a:r>
              <a:t>- tertiary_metric</a:t>
            </a:r>
            <a:br/>
            <a:r>
              <a:t>- action_type</a:t>
            </a:r>
            <a:br/>
            <a:r>
              <a:t>- measurement_period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42556" y="1564600"/>
            <a:ext cx="1198850" cy="7924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C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3383195" y="1513802"/>
            <a:ext cx="436869" cy="101597"/>
          </a:xfrm>
          <a:prstGeom prst="roundRect">
            <a:avLst/>
          </a:prstGeom>
          <a:solidFill>
            <a:srgbClr val="FFC72C"/>
          </a:solidFill>
          <a:ln w="12700">
            <a:solidFill>
              <a:srgbClr val="FFC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00" b="1" i="0" u="none">
                <a:solidFill>
                  <a:srgbClr val="003168"/>
                </a:solidFill>
              </a:defRPr>
            </a:pPr>
            <a:r>
              <a:t>UPGRADABLE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383" y="1513802"/>
            <a:ext cx="396230" cy="10159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C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00" b="1" i="0" u="none">
                <a:solidFill>
                  <a:srgbClr val="003168"/>
                </a:solidFill>
              </a:defRPr>
            </a:pPr>
            <a:r>
              <a:t>SWAPPABLE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42556" y="1595080"/>
            <a:ext cx="1198850" cy="13207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 i="0" u="none">
                <a:solidFill>
                  <a:srgbClr val="003168"/>
                </a:solidFill>
              </a:defRPr>
            </a:pPr>
            <a:r>
              <a:t>SUCCESS MODULE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42556" y="1686517"/>
            <a:ext cx="1198850" cy="111757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 i="1" u="none">
                <a:solidFill>
                  <a:srgbClr val="666666"/>
                </a:solidFill>
              </a:defRPr>
            </a:pPr>
            <a:r>
              <a:t>"How to calculate success?"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23834" y="1788115"/>
            <a:ext cx="1036294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342556" y="1828754"/>
            <a:ext cx="1198850" cy="487667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 i="0" u="none">
                <a:solidFill>
                  <a:srgbClr val="003168"/>
                </a:solidFill>
              </a:defRPr>
            </a:pPr>
            <a:r>
              <a:t>- table_path</a:t>
            </a:r>
            <a:br/>
            <a:r>
              <a:t>- filters</a:t>
            </a:r>
            <a:br/>
            <a:r>
              <a:t>- calculation_logic</a:t>
            </a:r>
            <a:br/>
            <a:r>
              <a:t>- conditions</a:t>
            </a:r>
            <a:br/>
            <a:r>
              <a:t>- success_flag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41406" y="1564600"/>
            <a:ext cx="1198850" cy="7924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CA3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5140831" y="1513802"/>
            <a:ext cx="355591" cy="101597"/>
          </a:xfrm>
          <a:prstGeom prst="roundRect">
            <a:avLst/>
          </a:prstGeom>
          <a:solidFill>
            <a:srgbClr val="FCA311"/>
          </a:solidFill>
          <a:ln w="12700">
            <a:solidFill>
              <a:srgbClr val="FCA3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00" b="1" i="0" u="none">
                <a:solidFill>
                  <a:srgbClr val="FFFFFF"/>
                </a:solidFill>
              </a:defRPr>
            </a:pPr>
            <a:r>
              <a:t>OPTIONAL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41406" y="1595080"/>
            <a:ext cx="1198850" cy="13207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 i="0" u="none">
                <a:solidFill>
                  <a:srgbClr val="003168"/>
                </a:solidFill>
              </a:defRPr>
            </a:pPr>
            <a:r>
              <a:t>ENRICHMENT MODULE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41406" y="1686517"/>
            <a:ext cx="1198850" cy="111757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 i="1" u="none">
                <a:solidFill>
                  <a:srgbClr val="666666"/>
                </a:solidFill>
              </a:defRPr>
            </a:pPr>
            <a:r>
              <a:t>"What context to add?"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22684" y="1788115"/>
            <a:ext cx="1036294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41406" y="1828754"/>
            <a:ext cx="1198850" cy="487667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 i="0" u="none">
                <a:solidFill>
                  <a:srgbClr val="003168"/>
                </a:solidFill>
              </a:defRPr>
            </a:pPr>
            <a:r>
              <a:t>- tenure</a:t>
            </a:r>
            <a:br/>
            <a:r>
              <a:t>- profitability</a:t>
            </a:r>
            <a:br/>
            <a:r>
              <a:t>- region</a:t>
            </a:r>
            <a:br/>
            <a:r>
              <a:t>- demographics</a:t>
            </a:r>
            <a:br/>
            <a:r>
              <a:t>- attrition_risk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41406" y="2265623"/>
            <a:ext cx="1198850" cy="111757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 i="1" u="none">
                <a:solidFill>
                  <a:srgbClr val="FCA311"/>
                </a:solidFill>
              </a:defRPr>
            </a:pPr>
            <a:r>
              <a:t>-&gt; Becomes SEGMENT in output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36486" y="1564600"/>
            <a:ext cx="1198850" cy="7924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9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136486" y="1595080"/>
            <a:ext cx="1198850" cy="13207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 i="0" u="none">
                <a:solidFill>
                  <a:srgbClr val="003168"/>
                </a:solidFill>
              </a:defRPr>
            </a:pPr>
            <a:r>
              <a:t>JOURNEY MODULE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36486" y="1686517"/>
            <a:ext cx="1198850" cy="111757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 i="1" u="none">
                <a:solidFill>
                  <a:srgbClr val="666666"/>
                </a:solidFill>
              </a:defRPr>
            </a:pPr>
            <a:r>
              <a:t>"What did they do?"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764" y="1788115"/>
            <a:ext cx="1036294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136486" y="1828754"/>
            <a:ext cx="1198850" cy="487667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 i="0" u="none">
                <a:solidFill>
                  <a:srgbClr val="003168"/>
                </a:solidFill>
              </a:defRPr>
            </a:pPr>
            <a:r>
              <a:t>- email_opens</a:t>
            </a:r>
            <a:br/>
            <a:r>
              <a:t>- email_clicks</a:t>
            </a:r>
            <a:br/>
            <a:r>
              <a:t>- mobile_engagement</a:t>
            </a:r>
            <a:br/>
            <a:r>
              <a:t>- banner_exposure</a:t>
            </a:r>
            <a:br/>
            <a:r>
              <a:t>- channel_touchpoints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03067" y="2936166"/>
            <a:ext cx="3992780" cy="12191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 i="1" u="none">
                <a:solidFill>
                  <a:srgbClr val="003168"/>
                </a:solidFill>
              </a:defRPr>
            </a:pPr>
            <a:r>
              <a:t>--------------------------- STANDARDIZED DATA ---------------------------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22939" y="3149521"/>
            <a:ext cx="6542876" cy="1219169"/>
          </a:xfrm>
          <a:prstGeom prst="roundRect">
            <a:avLst/>
          </a:prstGeom>
          <a:noFill/>
          <a:ln w="25400">
            <a:solidFill>
              <a:srgbClr val="003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44856" y="3190160"/>
            <a:ext cx="2235144" cy="14223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 i="0" u="none">
                <a:solidFill>
                  <a:srgbClr val="003168"/>
                </a:solidFill>
              </a:defRPr>
            </a:pPr>
            <a:r>
              <a:t>ANALYSIS LAYER (Pluggable Engines)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310607" y="3362875"/>
            <a:ext cx="1595080" cy="670543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3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2621214" y="3322236"/>
            <a:ext cx="243833" cy="101597"/>
          </a:xfrm>
          <a:prstGeom prst="roundRect">
            <a:avLst/>
          </a:prstGeom>
          <a:solidFill>
            <a:srgbClr val="07AFBF"/>
          </a:solidFill>
          <a:ln w="12700">
            <a:solidFill>
              <a:srgbClr val="07A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00" b="1" i="0" u="none">
                <a:solidFill>
                  <a:srgbClr val="FFFFFF"/>
                </a:solidFill>
              </a:defRPr>
            </a:pPr>
            <a:r>
              <a:t>BUILT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10607" y="3393355"/>
            <a:ext cx="1595080" cy="14223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 i="0" u="none">
                <a:solidFill>
                  <a:srgbClr val="003168"/>
                </a:solidFill>
              </a:defRPr>
            </a:pPr>
            <a:r>
              <a:t>VINTAGE ENGINE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381725" y="3515272"/>
            <a:ext cx="1432524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310607" y="3566070"/>
            <a:ext cx="1595080" cy="43686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 i="0" u="none">
                <a:solidFill>
                  <a:srgbClr val="003168"/>
                </a:solidFill>
                <a:latin typeface="Courier New"/>
              </a:defRPr>
            </a:pPr>
            <a:r>
              <a:t>detect_success()</a:t>
            </a:r>
            <a:br/>
            <a:r>
              <a:t>build_vintage_data()</a:t>
            </a:r>
            <a:br/>
            <a:r>
              <a:t>calculate_ci()</a:t>
            </a:r>
            <a:br/>
            <a:r>
              <a:t>prepare_vintage_table()</a:t>
            </a:r>
            <a:br/>
            <a:r>
              <a:t>generate_summary()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383195" y="3515272"/>
            <a:ext cx="721341" cy="304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 i="1" u="none">
                <a:solidFill>
                  <a:srgbClr val="CCCCCC"/>
                </a:solidFill>
              </a:defRPr>
            </a:pPr>
            <a:r>
              <a:t>Future</a:t>
            </a:r>
            <a:br/>
            <a:r>
              <a:t>Engine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419489" y="3515272"/>
            <a:ext cx="721341" cy="304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 i="1" u="none">
                <a:solidFill>
                  <a:srgbClr val="CCCCCC"/>
                </a:solidFill>
              </a:defRPr>
            </a:pPr>
            <a:r>
              <a:t>Future</a:t>
            </a:r>
            <a:br/>
            <a:r>
              <a:t>Engine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74505" y="3515272"/>
            <a:ext cx="396230" cy="3047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 i="0" u="none">
                <a:solidFill>
                  <a:srgbClr val="CCCCCC"/>
                </a:solidFill>
              </a:defRPr>
            </a:pPr>
            <a:r>
              <a:t>...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310607" y="4124856"/>
            <a:ext cx="1595080" cy="213354"/>
          </a:xfrm>
          <a:prstGeom prst="roundRect">
            <a:avLst/>
          </a:prstGeom>
          <a:solidFill>
            <a:srgbClr val="07AFBF"/>
          </a:solidFill>
          <a:ln w="12700">
            <a:solidFill>
              <a:srgbClr val="07A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310607" y="4124856"/>
            <a:ext cx="1595080" cy="14223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 i="0" u="none">
                <a:solidFill>
                  <a:srgbClr val="FFFFFF"/>
                </a:solidFill>
              </a:defRPr>
            </a:pPr>
            <a:r>
              <a:t>ADAPTIVE OUTPUT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310607" y="4216294"/>
            <a:ext cx="1595080" cy="14223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 i="0" u="none">
                <a:solidFill>
                  <a:srgbClr val="FFFFFF"/>
                </a:solidFill>
              </a:defRPr>
            </a:pPr>
            <a:r>
              <a:t>Curves x Metrics  |  Segments x Enrichments  |  Channel Stats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2103067" y="4033419"/>
            <a:ext cx="1" cy="91437"/>
          </a:xfrm>
          <a:prstGeom prst="line">
            <a:avLst/>
          </a:prstGeom>
          <a:ln w="25400">
            <a:solidFill>
              <a:srgbClr val="0031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1148051" y="4551566"/>
            <a:ext cx="802619" cy="24383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 i="0" u="none">
                <a:solidFill>
                  <a:srgbClr val="003168"/>
                </a:solidFill>
              </a:defRPr>
            </a:pPr>
            <a:r>
              <a:t>TRACK A</a:t>
            </a:r>
            <a:br/>
            <a:r>
              <a:t>Tableau / CIDM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265623" y="4551566"/>
            <a:ext cx="802619" cy="24383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 i="0" u="none">
                <a:solidFill>
                  <a:srgbClr val="003168"/>
                </a:solidFill>
              </a:defRPr>
            </a:pPr>
            <a:r>
              <a:t>TRACK B</a:t>
            </a:r>
            <a:br/>
            <a:r>
              <a:t>SharePoint / HTML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381725" y="4825879"/>
            <a:ext cx="1432524" cy="12191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 i="0" u="none">
                <a:solidFill>
                  <a:srgbClr val="003168"/>
                </a:solidFill>
              </a:defRPr>
            </a:pPr>
            <a:r>
              <a:t>&lt;--- PARALLEL ---&gt;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1544281" y="4399169"/>
            <a:ext cx="325112" cy="152397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346901" y="4399169"/>
            <a:ext cx="314952" cy="152397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5933291" y="3210479"/>
            <a:ext cx="1361405" cy="85341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5933291" y="3240958"/>
            <a:ext cx="1361405" cy="13207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 i="0" u="none">
                <a:solidFill>
                  <a:srgbClr val="003168"/>
                </a:solidFill>
              </a:defRPr>
            </a:pPr>
            <a:r>
              <a:t>LEGEND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055208" y="3383195"/>
            <a:ext cx="142236" cy="101597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9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238083" y="3373035"/>
            <a:ext cx="955016" cy="111757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 i="0" u="none">
                <a:solidFill>
                  <a:srgbClr val="003168"/>
                </a:solidFill>
              </a:defRPr>
            </a:pPr>
            <a:r>
              <a:t>From Data (stable)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055208" y="3505112"/>
            <a:ext cx="142236" cy="101597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C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238083" y="3494952"/>
            <a:ext cx="955016" cy="111757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 i="0" u="none">
                <a:solidFill>
                  <a:srgbClr val="003168"/>
                </a:solidFill>
              </a:defRPr>
            </a:pPr>
            <a:r>
              <a:t>Upgradable / Swappable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055208" y="3627029"/>
            <a:ext cx="142236" cy="101597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CA3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238083" y="3616869"/>
            <a:ext cx="955016" cy="111757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 i="0" u="none">
                <a:solidFill>
                  <a:srgbClr val="003168"/>
                </a:solidFill>
              </a:defRPr>
            </a:pPr>
            <a:r>
              <a:t>Optional / Attachable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055208" y="3748946"/>
            <a:ext cx="142236" cy="101597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3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238083" y="3738786"/>
            <a:ext cx="955016" cy="111757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 i="0" u="none">
                <a:solidFill>
                  <a:srgbClr val="003168"/>
                </a:solidFill>
              </a:defRPr>
            </a:pPr>
            <a:r>
              <a:t>Engine (stable)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055208" y="3870863"/>
            <a:ext cx="142236" cy="101597"/>
          </a:xfrm>
          <a:prstGeom prst="roundRect">
            <a:avLst/>
          </a:prstGeom>
          <a:solidFill>
            <a:srgbClr val="07AFBF"/>
          </a:solidFill>
          <a:ln w="25400">
            <a:solidFill>
              <a:srgbClr val="07A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238083" y="3860703"/>
            <a:ext cx="955016" cy="111757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 i="0" u="none">
                <a:solidFill>
                  <a:srgbClr val="003168"/>
                </a:solidFill>
              </a:defRPr>
            </a:pPr>
            <a:r>
              <a:t>Output / Future state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528371" y="802619"/>
            <a:ext cx="1757636" cy="1219169"/>
          </a:xfrm>
          <a:prstGeom prst="roundRect">
            <a:avLst/>
          </a:prstGeom>
          <a:solidFill>
            <a:srgbClr val="FFFBF0"/>
          </a:solidFill>
          <a:ln w="12700">
            <a:solidFill>
              <a:srgbClr val="FFC72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7528371" y="833099"/>
            <a:ext cx="1757636" cy="13207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 i="0" u="none">
                <a:solidFill>
                  <a:srgbClr val="003168"/>
                </a:solidFill>
              </a:defRPr>
            </a:pPr>
            <a:r>
              <a:t>DATA EXAMPLES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569010" y="965175"/>
            <a:ext cx="1676358" cy="3047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 i="0" u="none">
                <a:solidFill>
                  <a:srgbClr val="003168"/>
                </a:solidFill>
                <a:latin typeface="Courier New"/>
              </a:defRPr>
            </a:pPr>
            <a:r>
              <a:t>Experiment:</a:t>
            </a:r>
            <a:br/>
            <a:r>
              <a:t>  client_id = "C12345"</a:t>
            </a:r>
            <a:br/>
            <a:r>
              <a:t>  treatment = "Test"</a:t>
            </a:r>
            <a:br/>
            <a:r>
              <a:t>  segment = "High Value"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569010" y="1269968"/>
            <a:ext cx="1676358" cy="243833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 i="0" u="none">
                <a:solidFill>
                  <a:srgbClr val="003168"/>
                </a:solidFill>
                <a:latin typeface="Courier New"/>
              </a:defRPr>
            </a:pPr>
            <a:r>
              <a:t>Campaign:</a:t>
            </a:r>
            <a:br/>
            <a:r>
              <a:t>  primary = "card_acquisition"</a:t>
            </a:r>
            <a:br/>
            <a:r>
              <a:t>  action_type = "Cross-sell"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569010" y="1513802"/>
            <a:ext cx="1676358" cy="243833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 i="0" u="none">
                <a:solidFill>
                  <a:srgbClr val="003168"/>
                </a:solidFill>
                <a:latin typeface="Courier New"/>
              </a:defRPr>
            </a:pPr>
            <a:r>
              <a:t>Success:</a:t>
            </a:r>
            <a:br/>
            <a:r>
              <a:t>  table = "edw.card_opened"</a:t>
            </a:r>
            <a:br/>
            <a:r>
              <a:t>  filter = "product='VVD'"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569010" y="1757636"/>
            <a:ext cx="1676358" cy="243833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 i="0" u="none">
                <a:solidFill>
                  <a:srgbClr val="003168"/>
                </a:solidFill>
                <a:latin typeface="Courier New"/>
              </a:defRPr>
            </a:pPr>
            <a:r>
              <a:t>Enrichment:</a:t>
            </a:r>
            <a:br/>
            <a:r>
              <a:t>  tenure = "5+ years"</a:t>
            </a:r>
            <a:br/>
            <a:r>
              <a:t>  region = "West"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528371" y="2113227"/>
            <a:ext cx="1757636" cy="731501"/>
          </a:xfrm>
          <a:prstGeom prst="roundRect">
            <a:avLst/>
          </a:prstGeom>
          <a:solidFill>
            <a:srgbClr val="F0F8FF"/>
          </a:solidFill>
          <a:ln w="12700">
            <a:solidFill>
              <a:srgbClr val="0091D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528371" y="2143706"/>
            <a:ext cx="1757636" cy="13207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 i="0" u="none">
                <a:solidFill>
                  <a:srgbClr val="003168"/>
                </a:solidFill>
              </a:defRPr>
            </a:pPr>
            <a:r>
              <a:t>EACH MODULE ANSWERS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528371" y="2265623"/>
            <a:ext cx="1757636" cy="518147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 i="0" u="none">
                <a:solidFill>
                  <a:srgbClr val="003168"/>
                </a:solidFill>
              </a:defRPr>
            </a:pPr>
            <a:r>
              <a:t>1. Who is in the test?</a:t>
            </a:r>
            <a:br/>
            <a:r>
              <a:t>2. What metric to measure?</a:t>
            </a:r>
            <a:br/>
            <a:r>
              <a:t>3. How to calculate success?</a:t>
            </a:r>
            <a:br/>
            <a:r>
              <a:t>4. What context to add?</a:t>
            </a:r>
            <a:br/>
            <a:r>
              <a:t>5. What did clients do?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AB2468C-9848-50DE-EB76-EBD97F29D10B}"/>
              </a:ext>
            </a:extLst>
          </p:cNvPr>
          <p:cNvSpPr/>
          <p:nvPr/>
        </p:nvSpPr>
        <p:spPr>
          <a:xfrm>
            <a:off x="364613" y="286043"/>
            <a:ext cx="11442252" cy="628585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56652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427</Words>
  <Application>Microsoft Office PowerPoint</Application>
  <PresentationFormat>Widescreen</PresentationFormat>
  <Paragraphs>54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Andre AVS</cp:lastModifiedBy>
  <cp:revision>2</cp:revision>
  <dcterms:created xsi:type="dcterms:W3CDTF">2013-01-27T09:14:16Z</dcterms:created>
  <dcterms:modified xsi:type="dcterms:W3CDTF">2026-01-25T00:57:20Z</dcterms:modified>
  <cp:category/>
</cp:coreProperties>
</file>